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57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PatchPony ist unsere Antwort auf eine sehr praktische Frage: Wie machen wir KI zu einem echten Teil unseres Entwicklungsalltags, ohne Kontrolle und Sicherheit abzugeben? Das Ziel ist kein autonomer Bot, sondern ein verlässlicher Weg vom Ticket oder Wissensbedarf bis zur Review.</a:t>
            </a:r>
          </a:p>
          <a:p>
            <a:endParaRPr/>
          </a:p>
          <a:p>
            <a:r>
              <a:t>[Sources]</a:t>
            </a:r>
          </a:p>
          <a:p>
            <a:r>
              <a:t>- D:/data/Projekte/DevCell/brainstorm/patchpony-concept.md</a:t>
            </a:r>
          </a:p>
          <a:p>
            <a:r>
              <a:t>- D:/data/Projekte/DevCell/PatchPony-logo.png</a:t>
            </a:r>
          </a:p>
          <a:p>
            <a:r>
              <a:t>- https://www.destination.one/dist/svg/ui/destination_one_default.svg</a:t>
            </a:r>
          </a:p>
          <a:p>
            <a:r>
              <a:t>- https://www.destination.one/dist/css/default/critical.5d87270b.css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Wir haben das Wissen und wir haben die Systeme. Zeit geht aber in Übergaben, Suche und Rückfragen verloren. Ein Git-versionierter Obsidian-Vault kann dieses Wissen bündeln – PatchPony bringt es genau dorthin, wo Fragen, Tickets und Änderungen entstehen.</a:t>
            </a:r>
          </a:p>
          <a:p>
            <a:endParaRPr/>
          </a:p>
          <a:p>
            <a:r>
              <a:t>[Sources]</a:t>
            </a:r>
          </a:p>
          <a:p>
            <a:r>
              <a:t>- D:/data/Projekte/DevCell/brainstorm/patchpony-concept.md</a:t>
            </a:r>
          </a:p>
          <a:p>
            <a:r>
              <a:t>- https://www.destination.one/dist/css/default/critical.5d87270b.css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zentrale Produktgedanke ist die sichere Projekt-Runtime. Sie verbindet Skills, Code, Configs und den Git-versionierten Wissensvault mit klar begrenzten Fähigkeiten. Der Agent bekommt genau den Kontext und genau die Aktionen, die für seine Rolle freigegeben sind – nicht mehr.</a:t>
            </a:r>
          </a:p>
          <a:p>
            <a:endParaRPr/>
          </a:p>
          <a:p>
            <a:r>
              <a:t>[Sources]</a:t>
            </a:r>
          </a:p>
          <a:p>
            <a:r>
              <a:t>- D:/data/Projekte/DevCell/brainstorm/patchpony-concept.md</a:t>
            </a:r>
          </a:p>
          <a:p>
            <a:r>
              <a:t>- https://www.destination.one/dist/css/default/critical.5d87270b.css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vier Use-Cases verwenden dieselbe technische Basis, aber nicht dieselben Rechte. Der Frageagent liest nur. Der Config-Agent ändert eng definierte Dateien. Der Knowledge-Agent liest den Vault und darf Wissensänderungen nur über eine isolierte Session und einen menschlich reviewten Merge Request vorbereiten.</a:t>
            </a:r>
          </a:p>
          <a:p>
            <a:endParaRPr/>
          </a:p>
          <a:p>
            <a:r>
              <a:t>[Sources]</a:t>
            </a:r>
          </a:p>
          <a:p>
            <a:r>
              <a:t>- D:/data/Projekte/DevCell/brainstorm/patchpony-concept.md</a:t>
            </a:r>
          </a:p>
          <a:p>
            <a:r>
              <a:t>- D:/data/Projekte/DevCell/PLAN.md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Obsidian-Vault macht aus dem Projektkontext ein echtes gemeinsames Second Brain. PatchPony kann ihn read-only für Fragen und Tickets nutzen. Wenn Wissen fehlt oder veraltet ist, entsteht die Änderung nicht direkt auf main, sondern wie jede andere Änderung in einer isolierten Git-Session – mit validierten Links, nachvollziehbarem Diff, Knowledge Owner und Merge Request.</a:t>
            </a:r>
          </a:p>
          <a:p>
            <a:endParaRPr/>
          </a:p>
          <a:p>
            <a:r>
              <a:t>[Sources]</a:t>
            </a:r>
          </a:p>
          <a:p>
            <a:r>
              <a:t>- D:/data/Projekte/DevCell/brainstorm/patchpony-concept.md</a:t>
            </a:r>
          </a:p>
          <a:p>
            <a:r>
              <a:t>- D:/data/Projekte/DevCell/PLAN.md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n8n orchestriert den Ablauf, aber PatchPony erzwingt die Regeln. Jede Aktion ist nachvollziehbar – egal ob Ticket, Entwicklerfrage oder Wissenspflege. Änderungen an Config oder Vault entstehen in einer isolierten Session, werden validiert und enden bei einem Merge Request. Die Entscheidung bleibt beim Team.</a:t>
            </a:r>
          </a:p>
          <a:p>
            <a:endParaRPr/>
          </a:p>
          <a:p>
            <a:r>
              <a:t>[Sources]</a:t>
            </a:r>
          </a:p>
          <a:p>
            <a:r>
              <a:t>- D:/data/Projekte/DevCell/brainstorm/patchpony-concept.md</a:t>
            </a:r>
          </a:p>
          <a:p>
            <a:r>
              <a:t>- D:/data/Projekte/DevCell/PLAN.md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ist der Kern unseres Sicherheitsansatzes: Capability Security statt eines besonders strengen Systemprompts. Selbst wenn Ticket, Repository oder Vault-Seite eine Prompt Injection enthalten, bleiben Host, Credentials, Netzwerk, Obsidian-Plugins und geschützte Branches technisch außerhalb der Reichweite.</a:t>
            </a:r>
          </a:p>
          <a:p>
            <a:endParaRPr/>
          </a:p>
          <a:p>
            <a:r>
              <a:t>[Sources]</a:t>
            </a:r>
          </a:p>
          <a:p>
            <a:r>
              <a:t>- D:/data/Projekte/DevCell/brainstorm/patchpony-concept.md</a:t>
            </a:r>
          </a:p>
          <a:p>
            <a:r>
              <a:t>- D:/data/Projekte/DevCell/PLAN.md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Stack ist modern, aber nicht experimentell. C# und ASP.NET Core bilden Gateway und Worker. MCP bindet Agenten an, REST macht n8n-Workflows robust. Docker und Git-Worktrees liefern die Isolation. Der Obsidian-Vault bleibt ganz bewusst bei Markdown und Git. PostgreSQL hält Jobs, Locks und Audit nachvollziehbar.</a:t>
            </a:r>
          </a:p>
          <a:p>
            <a:endParaRPr/>
          </a:p>
          <a:p>
            <a:r>
              <a:t>[Sources]</a:t>
            </a:r>
          </a:p>
          <a:p>
            <a:r>
              <a:t>- D:/data/Projekte/DevCell/brainstorm/patchpony-concept.md</a:t>
            </a:r>
          </a:p>
          <a:p>
            <a:r>
              <a:t>- D:/data/Projekte/DevCell/PLAN.md</a:t>
            </a:r>
          </a:p>
          <a:p>
            <a:r>
              <a:t>- https://github.com/modelcontextprotocol/csharp-sdk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Wir planen keinen Big Bang. Der Read-only MVP liefert früh Nutzen für Code- und Wissensfragen bei minimalem Risiko. Schreibrechte für Config und Vault kommen erst nach eigenen Pfad-, Link- und Sessiontests. Remote-Git-Schreiben kommt ganz zum Schluss – jeweils mit klaren Abnahmekriterien.</a:t>
            </a:r>
          </a:p>
          <a:p>
            <a:endParaRPr/>
          </a:p>
          <a:p>
            <a:r>
              <a:t>[Sources]</a:t>
            </a:r>
          </a:p>
          <a:p>
            <a:r>
              <a:t>- D:/data/Projekte/DevCell/PLAN.md</a:t>
            </a:r>
          </a:p>
          <a:p>
            <a:r>
              <a:t>- D:/data/Projekte/DevCell/brainstorm/patchpony-concept.md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Award-Wert liegt nicht in einem einzelnen Workflow. PatchPony verbindet Tickets, Code, Config und unseren Wissensvault zu einer gemeinsamen, sicheren Fähigkeit, die sich Projekt für Projekt erweitern lässt. Das entspricht unserer destination.one-Haltung: Integration, Einfachheit und Dinge zusammenzuführen – diesmal für unsere eigene Entwicklungsarbeit.</a:t>
            </a:r>
          </a:p>
          <a:p>
            <a:endParaRPr/>
          </a:p>
          <a:p>
            <a:r>
              <a:t>[Sources]</a:t>
            </a:r>
          </a:p>
          <a:p>
            <a:r>
              <a:t>- D:/data/Projekte/DevCell/brainstorm/patchpony-concept.md</a:t>
            </a:r>
          </a:p>
          <a:p>
            <a:r>
              <a:t>- https://www.destination.one/fileadmin/Mediendatenbank/one-product/one-intelligence/destination-one_brand-leitfaden_2026-02.pdf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Unser konkreter Ask ist bewusst klein: der Startschuss für einen Read-only Pilot mit einem ausgewählten Projekt und einem freigegebenen Bereich des Wissensvaults. Damit beweisen wir Nutzen und Sicherheit früh. Danach erweitern wir nur Fähigkeiten, die ihre Gates bestanden haben. Genau diese Kombination aus Mut und Kontrolle macht PatchPony awardwürdig.</a:t>
            </a:r>
          </a:p>
          <a:p>
            <a:endParaRPr/>
          </a:p>
          <a:p>
            <a:r>
              <a:t>[Sources]</a:t>
            </a:r>
          </a:p>
          <a:p>
            <a:r>
              <a:t>- D:/data/Projekte/DevCell/PLAN.md</a:t>
            </a:r>
          </a:p>
          <a:p>
            <a:r>
              <a:t>- https://www.destination.one/dist/svg/ui/destination_one_default.svg</a:t>
            </a:r>
          </a:p>
          <a:p>
            <a:r>
              <a:t>- https://www.destination.one/dist/css/default/critical.5d87270b.css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20"/>
        </a:solidFill>
        <a:effectLst/>
      </p:bgPr>
    </p:bg>
    <p:spTree>
      <p:nvGrpSpPr>
        <p:cNvPr id="1" name=""/>
        <p:cNvGrpSpPr/>
        <p:nvPr/>
      </p:nvGrpSpPr>
      <p:grpSpPr>
        <a:xfrm>
          <a:off x="0" y="0"/>
          <a:ext cx="0" cy="0"/>
          <a:chOff x="0" y="0"/>
          <a:chExt cx="0" cy="0"/>
        </a:xfrm>
      </p:grpSpPr>
      <p:pic>
        <p:nvPicPr>
          <p:cNvPr id="11" name="Grafik 10"/>
          <p:cNvPicPr>
            <a:picLocks noChangeAspect="1"/>
          </p:cNvPicPr>
          <p:nvPr/>
        </p:nvPicPr>
        <p:blipFill>
          <a:blip r:embed="rId3"/>
          <a:stretch/>
        </p:blipFill>
        <p:spPr>
          <a:xfrm>
            <a:off x="609600" y="543084"/>
            <a:ext cx="2609850" cy="304483"/>
          </a:xfrm>
          <a:prstGeom prst="rect">
            <a:avLst/>
          </a:prstGeom>
        </p:spPr>
      </p:pic>
      <p:sp>
        <p:nvSpPr>
          <p:cNvPr id="2" name="Rechteck 1">
            <a:extLst>
              <a:ext uri="{FF2B5EF4-FFF2-40B4-BE49-F238E27FC236}">
                <a16:creationId xmlns:a16="http://schemas.microsoft.com/office/drawing/2014/main" id="{A390431E-5243-4EE0-8B94-8A3255920FCE}"/>
              </a:ext>
            </a:extLst>
          </p:cNvPr>
          <p:cNvSpPr>
            <a:spLocks noGrp="1"/>
          </p:cNvSpPr>
          <p:nvPr/>
        </p:nvSpPr>
        <p:spPr>
          <a:xfrm>
            <a:off x="609600" y="1352550"/>
            <a:ext cx="4191000" cy="266700"/>
          </a:xfrm>
          <a:prstGeom prst="rect">
            <a:avLst/>
          </a:prstGeom>
          <a:noFill/>
          <a:ln w="0">
            <a:noFill/>
            <a:prstDash val="solid"/>
          </a:ln>
        </p:spPr>
        <p:txBody>
          <a:bodyPr wrap="square" lIns="0" tIns="0" rIns="0" bIns="0" anchor="t">
            <a:normAutofit/>
          </a:bodyPr>
          <a:lstStyle/>
          <a:p>
            <a:pPr algn="l">
              <a:defRPr sz="1200" b="1" i="0">
                <a:solidFill>
                  <a:srgbClr val="93C01C"/>
                </a:solidFill>
              </a:defRPr>
            </a:pPr>
            <a:r>
              <a:rPr sz="1200" b="1" i="0">
                <a:solidFill>
                  <a:srgbClr val="93C01C"/>
                </a:solidFill>
              </a:rPr>
              <a:t>PITCH FÜR DEN ONE.AWARD</a:t>
            </a:r>
          </a:p>
        </p:txBody>
      </p:sp>
      <p:sp>
        <p:nvSpPr>
          <p:cNvPr id="3" name="Rechteck 2">
            <a:extLst>
              <a:ext uri="{FF2B5EF4-FFF2-40B4-BE49-F238E27FC236}">
                <a16:creationId xmlns:a16="http://schemas.microsoft.com/office/drawing/2014/main" id="{3EACFB37-36AA-4358-9662-A7377C7892E0}"/>
              </a:ext>
            </a:extLst>
          </p:cNvPr>
          <p:cNvSpPr>
            <a:spLocks noGrp="1"/>
          </p:cNvSpPr>
          <p:nvPr/>
        </p:nvSpPr>
        <p:spPr>
          <a:xfrm>
            <a:off x="609600" y="1847850"/>
            <a:ext cx="3905250" cy="876300"/>
          </a:xfrm>
          <a:prstGeom prst="rect">
            <a:avLst/>
          </a:prstGeom>
          <a:noFill/>
          <a:ln w="0">
            <a:noFill/>
            <a:prstDash val="solid"/>
          </a:ln>
        </p:spPr>
        <p:txBody>
          <a:bodyPr wrap="square" lIns="0" tIns="0" rIns="0" bIns="0" anchor="t">
            <a:normAutofit/>
          </a:bodyPr>
          <a:lstStyle/>
          <a:p>
            <a:pPr algn="l">
              <a:defRPr sz="4950" b="1" i="0">
                <a:solidFill>
                  <a:srgbClr val="FFFFFF"/>
                </a:solidFill>
              </a:defRPr>
            </a:pPr>
            <a:r>
              <a:rPr sz="4950" b="1" i="0">
                <a:solidFill>
                  <a:srgbClr val="FFFFFF"/>
                </a:solidFill>
              </a:rPr>
              <a:t>PatchPony</a:t>
            </a:r>
          </a:p>
        </p:txBody>
      </p:sp>
      <p:pic>
        <p:nvPicPr>
          <p:cNvPr id="14" name="Grafik 13"/>
          <p:cNvPicPr>
            <a:picLocks noChangeAspect="1"/>
          </p:cNvPicPr>
          <p:nvPr/>
        </p:nvPicPr>
        <p:blipFill>
          <a:blip r:embed="rId4"/>
          <a:stretch/>
        </p:blipFill>
        <p:spPr>
          <a:xfrm>
            <a:off x="3488499" y="709828"/>
            <a:ext cx="2225007" cy="2033372"/>
          </a:xfrm>
          <a:prstGeom prst="rect">
            <a:avLst/>
          </a:prstGeom>
        </p:spPr>
      </p:pic>
      <p:sp>
        <p:nvSpPr>
          <p:cNvPr id="5" name="Rechteck 4">
            <a:extLst>
              <a:ext uri="{FF2B5EF4-FFF2-40B4-BE49-F238E27FC236}">
                <a16:creationId xmlns:a16="http://schemas.microsoft.com/office/drawing/2014/main" id="{0DB1B6F3-4828-473A-B5B2-12625854B8FC}"/>
              </a:ext>
            </a:extLst>
          </p:cNvPr>
          <p:cNvSpPr>
            <a:spLocks noGrp="1"/>
          </p:cNvSpPr>
          <p:nvPr/>
        </p:nvSpPr>
        <p:spPr>
          <a:xfrm>
            <a:off x="609600" y="2781300"/>
            <a:ext cx="5048250" cy="1428750"/>
          </a:xfrm>
          <a:prstGeom prst="rect">
            <a:avLst/>
          </a:prstGeom>
          <a:noFill/>
          <a:ln w="0">
            <a:noFill/>
            <a:prstDash val="solid"/>
          </a:ln>
        </p:spPr>
        <p:txBody>
          <a:bodyPr wrap="square" lIns="0" tIns="0" rIns="0" bIns="0" anchor="t">
            <a:normAutofit/>
          </a:bodyPr>
          <a:lstStyle/>
          <a:p>
            <a:pPr algn="l">
              <a:defRPr sz="2775" b="1" i="0">
                <a:solidFill>
                  <a:srgbClr val="FFFFFF"/>
                </a:solidFill>
              </a:defRPr>
            </a:pPr>
            <a:r>
              <a:rPr sz="2775" b="1" i="0">
                <a:solidFill>
                  <a:srgbClr val="FFFFFF"/>
                </a:solidFill>
              </a:rPr>
              <a:t>Aus Tickets und Wissen wird</a:t>
            </a:r>
          </a:p>
          <a:p>
            <a:pPr algn="l">
              <a:defRPr sz="2775" b="1" i="0">
                <a:solidFill>
                  <a:srgbClr val="FFFFFF"/>
                </a:solidFill>
              </a:defRPr>
            </a:pPr>
            <a:r>
              <a:rPr sz="2775" b="1" i="0">
                <a:solidFill>
                  <a:srgbClr val="FFFFFF"/>
                </a:solidFill>
              </a:rPr>
              <a:t>reviewfertige Arbeit.</a:t>
            </a:r>
          </a:p>
        </p:txBody>
      </p:sp>
      <p:sp>
        <p:nvSpPr>
          <p:cNvPr id="6" name="Rechteck 5">
            <a:extLst>
              <a:ext uri="{FF2B5EF4-FFF2-40B4-BE49-F238E27FC236}">
                <a16:creationId xmlns:a16="http://schemas.microsoft.com/office/drawing/2014/main" id="{9C5620BF-8160-4CC3-9479-35EF3F90EC17}"/>
              </a:ext>
            </a:extLst>
          </p:cNvPr>
          <p:cNvSpPr>
            <a:spLocks noGrp="1"/>
          </p:cNvSpPr>
          <p:nvPr/>
        </p:nvSpPr>
        <p:spPr>
          <a:xfrm>
            <a:off x="609600" y="4552950"/>
            <a:ext cx="4857750" cy="876300"/>
          </a:xfrm>
          <a:prstGeom prst="rect">
            <a:avLst/>
          </a:prstGeom>
          <a:noFill/>
          <a:ln w="0">
            <a:noFill/>
            <a:prstDash val="solid"/>
          </a:ln>
        </p:spPr>
        <p:txBody>
          <a:bodyPr wrap="square" lIns="0" tIns="0" rIns="0" bIns="0" anchor="t">
            <a:normAutofit/>
          </a:bodyPr>
          <a:lstStyle/>
          <a:p>
            <a:pPr algn="l">
              <a:defRPr sz="1575" b="0" i="0">
                <a:solidFill>
                  <a:srgbClr val="D4D9D8"/>
                </a:solidFill>
              </a:defRPr>
            </a:pPr>
            <a:r>
              <a:rPr sz="1575" b="0" i="0">
                <a:solidFill>
                  <a:srgbClr val="D4D9D8"/>
                </a:solidFill>
              </a:rPr>
              <a:t>Ein agentenfähiges Projekt-Environment für Entwicklung, Support, Changes und Firmenwissen.</a:t>
            </a:r>
          </a:p>
        </p:txBody>
      </p:sp>
      <p:sp>
        <p:nvSpPr>
          <p:cNvPr id="7" name="Rechteck: abgerundete Ecken 6">
            <a:extLst>
              <a:ext uri="{FF2B5EF4-FFF2-40B4-BE49-F238E27FC236}">
                <a16:creationId xmlns:a16="http://schemas.microsoft.com/office/drawing/2014/main" id="{EF72BADB-2EAD-4DD3-BD42-AE57A0BE343C}"/>
              </a:ext>
            </a:extLst>
          </p:cNvPr>
          <p:cNvSpPr>
            <a:spLocks noGrp="1"/>
          </p:cNvSpPr>
          <p:nvPr/>
        </p:nvSpPr>
        <p:spPr>
          <a:xfrm>
            <a:off x="6019800" y="400050"/>
            <a:ext cx="5562600" cy="5619750"/>
          </a:xfrm>
          <a:prstGeom prst="roundRect">
            <a:avLst>
              <a:gd name="adj" fmla="val 4795"/>
            </a:avLst>
          </a:prstGeom>
          <a:solidFill>
            <a:srgbClr val="FFFFFF"/>
          </a:solidFill>
          <a:ln w="0">
            <a:noFill/>
            <a:prstDash val="solid"/>
          </a:ln>
        </p:spPr>
      </p:sp>
      <p:pic>
        <p:nvPicPr>
          <p:cNvPr id="18" name="Grafik 17"/>
          <p:cNvPicPr>
            <a:picLocks noChangeAspect="1"/>
          </p:cNvPicPr>
          <p:nvPr/>
        </p:nvPicPr>
        <p:blipFill>
          <a:blip r:embed="rId5"/>
          <a:srcRect l="508" r="508"/>
          <a:stretch>
            <a:fillRect/>
          </a:stretch>
        </p:blipFill>
        <p:spPr>
          <a:xfrm>
            <a:off x="6019800" y="400050"/>
            <a:ext cx="5562600" cy="5619750"/>
          </a:xfrm>
          <a:prstGeom prst="roundRect">
            <a:avLst>
              <a:gd name="adj" fmla="val 4795"/>
            </a:avLst>
          </a:prstGeom>
        </p:spPr>
      </p:pic>
      <p:sp>
        <p:nvSpPr>
          <p:cNvPr id="9" name="Rechteck 8">
            <a:extLst>
              <a:ext uri="{FF2B5EF4-FFF2-40B4-BE49-F238E27FC236}">
                <a16:creationId xmlns:a16="http://schemas.microsoft.com/office/drawing/2014/main" id="{7D5FE13A-F54F-4BE4-B358-727DD7D1F3F5}"/>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D4D9D8"/>
                </a:solidFill>
              </a:defRPr>
            </a:pPr>
            <a:r>
              <a:rPr sz="975" b="0" i="0">
                <a:solidFill>
                  <a:srgbClr val="D4D9D8"/>
                </a:solidFill>
              </a:rPr>
              <a:t>destination.one · one.award</a:t>
            </a:r>
          </a:p>
        </p:txBody>
      </p:sp>
      <p:sp>
        <p:nvSpPr>
          <p:cNvPr id="10" name="Rechteck 9">
            <a:extLst>
              <a:ext uri="{FF2B5EF4-FFF2-40B4-BE49-F238E27FC236}">
                <a16:creationId xmlns:a16="http://schemas.microsoft.com/office/drawing/2014/main" id="{5554F8D9-FEB4-4926-8DAB-FF56AC5332CF}"/>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D4D9D8"/>
                </a:solidFill>
              </a:defRPr>
            </a:pPr>
            <a:r>
              <a:rPr sz="975" b="0" i="0">
                <a:solidFill>
                  <a:srgbClr val="D4D9D8"/>
                </a:solidFill>
              </a:rPr>
              <a:t>01</a:t>
            </a:r>
          </a:p>
        </p:txBody>
      </p:sp>
    </p:spTree>
    <p:extLst>
      <p:ext uri="{BB962C8B-B14F-4D97-AF65-F5344CB8AC3E}">
        <p14:creationId xmlns:p14="http://schemas.microsoft.com/office/powerpoint/2010/main" val="1631896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FE677E9A-0B7F-4B19-B121-D5FFF18D485B}"/>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DAS PROBLEM</a:t>
            </a:r>
          </a:p>
        </p:txBody>
      </p:sp>
      <p:sp>
        <p:nvSpPr>
          <p:cNvPr id="2" name="Rechteck 1">
            <a:extLst>
              <a:ext uri="{FF2B5EF4-FFF2-40B4-BE49-F238E27FC236}">
                <a16:creationId xmlns:a16="http://schemas.microsoft.com/office/drawing/2014/main" id="{788A8902-E028-4399-B797-380F3328BCA9}"/>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Unser Wissen ist da. Es kommt nur nicht schnell genug an.</a:t>
            </a:r>
          </a:p>
        </p:txBody>
      </p:sp>
      <p:sp>
        <p:nvSpPr>
          <p:cNvPr id="3" name="Rechteck 2">
            <a:extLst>
              <a:ext uri="{FF2B5EF4-FFF2-40B4-BE49-F238E27FC236}">
                <a16:creationId xmlns:a16="http://schemas.microsoft.com/office/drawing/2014/main" id="{7CDB6C97-F3A6-4606-9EF2-F52DB9F3E86E}"/>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804D5DD8-0743-4FF3-A286-3D884B6236D1}"/>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02</a:t>
            </a:r>
          </a:p>
        </p:txBody>
      </p:sp>
      <p:sp>
        <p:nvSpPr>
          <p:cNvPr id="5" name="Rechteck 4">
            <a:extLst>
              <a:ext uri="{FF2B5EF4-FFF2-40B4-BE49-F238E27FC236}">
                <a16:creationId xmlns:a16="http://schemas.microsoft.com/office/drawing/2014/main" id="{0AC05A9A-8F70-44C9-B0AD-1818D3ED872D}"/>
              </a:ext>
            </a:extLst>
          </p:cNvPr>
          <p:cNvSpPr>
            <a:spLocks noGrp="1"/>
          </p:cNvSpPr>
          <p:nvPr/>
        </p:nvSpPr>
        <p:spPr>
          <a:xfrm>
            <a:off x="609600" y="2076450"/>
            <a:ext cx="3048000" cy="57150"/>
          </a:xfrm>
          <a:prstGeom prst="rect">
            <a:avLst/>
          </a:prstGeom>
          <a:solidFill>
            <a:srgbClr val="93C01C"/>
          </a:solidFill>
          <a:ln w="0">
            <a:noFill/>
            <a:prstDash val="solid"/>
          </a:ln>
        </p:spPr>
      </p:sp>
      <p:sp>
        <p:nvSpPr>
          <p:cNvPr id="6" name="Rechteck 5">
            <a:extLst>
              <a:ext uri="{FF2B5EF4-FFF2-40B4-BE49-F238E27FC236}">
                <a16:creationId xmlns:a16="http://schemas.microsoft.com/office/drawing/2014/main" id="{29EDC62E-2630-4C87-A427-99D96C18ED6E}"/>
              </a:ext>
            </a:extLst>
          </p:cNvPr>
          <p:cNvSpPr>
            <a:spLocks noGrp="1"/>
          </p:cNvSpPr>
          <p:nvPr/>
        </p:nvSpPr>
        <p:spPr>
          <a:xfrm>
            <a:off x="609600" y="2305050"/>
            <a:ext cx="3048000" cy="552450"/>
          </a:xfrm>
          <a:prstGeom prst="rect">
            <a:avLst/>
          </a:prstGeom>
          <a:noFill/>
          <a:ln w="0">
            <a:noFill/>
            <a:prstDash val="solid"/>
          </a:ln>
        </p:spPr>
        <p:txBody>
          <a:bodyPr wrap="square" lIns="0" tIns="0" rIns="0" bIns="0" anchor="t">
            <a:normAutofit/>
          </a:bodyPr>
          <a:lstStyle/>
          <a:p>
            <a:pPr algn="l">
              <a:defRPr sz="3150" b="1" i="0">
                <a:solidFill>
                  <a:srgbClr val="93C01C"/>
                </a:solidFill>
              </a:defRPr>
            </a:pPr>
            <a:r>
              <a:rPr sz="3150" b="1" i="0">
                <a:solidFill>
                  <a:srgbClr val="93C01C"/>
                </a:solidFill>
              </a:rPr>
              <a:t>01</a:t>
            </a:r>
          </a:p>
        </p:txBody>
      </p:sp>
      <p:sp>
        <p:nvSpPr>
          <p:cNvPr id="7" name="Rechteck 6">
            <a:extLst>
              <a:ext uri="{FF2B5EF4-FFF2-40B4-BE49-F238E27FC236}">
                <a16:creationId xmlns:a16="http://schemas.microsoft.com/office/drawing/2014/main" id="{316A76C3-8457-41DB-8FC6-76F2F76569DB}"/>
              </a:ext>
            </a:extLst>
          </p:cNvPr>
          <p:cNvSpPr>
            <a:spLocks noGrp="1"/>
          </p:cNvSpPr>
          <p:nvPr/>
        </p:nvSpPr>
        <p:spPr>
          <a:xfrm>
            <a:off x="609600" y="2952750"/>
            <a:ext cx="3048000" cy="4572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Bugreports</a:t>
            </a:r>
          </a:p>
        </p:txBody>
      </p:sp>
      <p:sp>
        <p:nvSpPr>
          <p:cNvPr id="8" name="Rechteck 7">
            <a:extLst>
              <a:ext uri="{FF2B5EF4-FFF2-40B4-BE49-F238E27FC236}">
                <a16:creationId xmlns:a16="http://schemas.microsoft.com/office/drawing/2014/main" id="{0EE5CD15-1824-4D7D-B858-0A11D6B759E2}"/>
              </a:ext>
            </a:extLst>
          </p:cNvPr>
          <p:cNvSpPr>
            <a:spLocks noGrp="1"/>
          </p:cNvSpPr>
          <p:nvPr/>
        </p:nvSpPr>
        <p:spPr>
          <a:xfrm>
            <a:off x="609600" y="3505200"/>
            <a:ext cx="3048000" cy="1790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Rückfragen starten oft früher als die eigentliche Problemlösung.</a:t>
            </a:r>
          </a:p>
        </p:txBody>
      </p:sp>
      <p:sp>
        <p:nvSpPr>
          <p:cNvPr id="9" name="Rechteck 8">
            <a:extLst>
              <a:ext uri="{FF2B5EF4-FFF2-40B4-BE49-F238E27FC236}">
                <a16:creationId xmlns:a16="http://schemas.microsoft.com/office/drawing/2014/main" id="{552AF321-F248-4DDE-975F-97D9ABFF92AA}"/>
              </a:ext>
            </a:extLst>
          </p:cNvPr>
          <p:cNvSpPr>
            <a:spLocks noGrp="1"/>
          </p:cNvSpPr>
          <p:nvPr/>
        </p:nvSpPr>
        <p:spPr>
          <a:xfrm>
            <a:off x="4267200" y="2076450"/>
            <a:ext cx="3048000" cy="57150"/>
          </a:xfrm>
          <a:prstGeom prst="rect">
            <a:avLst/>
          </a:prstGeom>
          <a:solidFill>
            <a:srgbClr val="0A6156"/>
          </a:solidFill>
          <a:ln w="0">
            <a:noFill/>
            <a:prstDash val="solid"/>
          </a:ln>
        </p:spPr>
      </p:sp>
      <p:sp>
        <p:nvSpPr>
          <p:cNvPr id="10" name="Rechteck 9">
            <a:extLst>
              <a:ext uri="{FF2B5EF4-FFF2-40B4-BE49-F238E27FC236}">
                <a16:creationId xmlns:a16="http://schemas.microsoft.com/office/drawing/2014/main" id="{5FA0B95B-954E-42F2-870F-E3DA062BF8F1}"/>
              </a:ext>
            </a:extLst>
          </p:cNvPr>
          <p:cNvSpPr>
            <a:spLocks noGrp="1"/>
          </p:cNvSpPr>
          <p:nvPr/>
        </p:nvSpPr>
        <p:spPr>
          <a:xfrm>
            <a:off x="4267200" y="2305050"/>
            <a:ext cx="3048000" cy="552450"/>
          </a:xfrm>
          <a:prstGeom prst="rect">
            <a:avLst/>
          </a:prstGeom>
          <a:noFill/>
          <a:ln w="0">
            <a:noFill/>
            <a:prstDash val="solid"/>
          </a:ln>
        </p:spPr>
        <p:txBody>
          <a:bodyPr wrap="square" lIns="0" tIns="0" rIns="0" bIns="0" anchor="t">
            <a:normAutofit/>
          </a:bodyPr>
          <a:lstStyle/>
          <a:p>
            <a:pPr algn="l">
              <a:defRPr sz="3150" b="1" i="0">
                <a:solidFill>
                  <a:srgbClr val="0A6156"/>
                </a:solidFill>
              </a:defRPr>
            </a:pPr>
            <a:r>
              <a:rPr sz="3150" b="1" i="0">
                <a:solidFill>
                  <a:srgbClr val="0A6156"/>
                </a:solidFill>
              </a:rPr>
              <a:t>02</a:t>
            </a:r>
          </a:p>
        </p:txBody>
      </p:sp>
      <p:sp>
        <p:nvSpPr>
          <p:cNvPr id="11" name="Rechteck 10">
            <a:extLst>
              <a:ext uri="{FF2B5EF4-FFF2-40B4-BE49-F238E27FC236}">
                <a16:creationId xmlns:a16="http://schemas.microsoft.com/office/drawing/2014/main" id="{92CEE77D-B22D-47ED-BF9D-A52E4F7F8C5E}"/>
              </a:ext>
            </a:extLst>
          </p:cNvPr>
          <p:cNvSpPr>
            <a:spLocks noGrp="1"/>
          </p:cNvSpPr>
          <p:nvPr/>
        </p:nvSpPr>
        <p:spPr>
          <a:xfrm>
            <a:off x="4267200" y="2952750"/>
            <a:ext cx="3048000" cy="4572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Projektwissen</a:t>
            </a:r>
          </a:p>
        </p:txBody>
      </p:sp>
      <p:sp>
        <p:nvSpPr>
          <p:cNvPr id="12" name="Rechteck 11">
            <a:extLst>
              <a:ext uri="{FF2B5EF4-FFF2-40B4-BE49-F238E27FC236}">
                <a16:creationId xmlns:a16="http://schemas.microsoft.com/office/drawing/2014/main" id="{1076581F-DAC4-4893-85B5-C9500DE8D958}"/>
              </a:ext>
            </a:extLst>
          </p:cNvPr>
          <p:cNvSpPr>
            <a:spLocks noGrp="1"/>
          </p:cNvSpPr>
          <p:nvPr/>
        </p:nvSpPr>
        <p:spPr>
          <a:xfrm>
            <a:off x="4267200" y="3505200"/>
            <a:ext cx="3048000" cy="1790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Kontext steckt verteilt in Köpfen, Code, Configs und einem wachsenden Wissensvault.</a:t>
            </a:r>
          </a:p>
        </p:txBody>
      </p:sp>
      <p:sp>
        <p:nvSpPr>
          <p:cNvPr id="13" name="Rechteck 12">
            <a:extLst>
              <a:ext uri="{FF2B5EF4-FFF2-40B4-BE49-F238E27FC236}">
                <a16:creationId xmlns:a16="http://schemas.microsoft.com/office/drawing/2014/main" id="{DBDA799E-961E-42A5-92AA-B056949F7D95}"/>
              </a:ext>
            </a:extLst>
          </p:cNvPr>
          <p:cNvSpPr>
            <a:spLocks noGrp="1"/>
          </p:cNvSpPr>
          <p:nvPr/>
        </p:nvSpPr>
        <p:spPr>
          <a:xfrm>
            <a:off x="7924800" y="2076450"/>
            <a:ext cx="3048000" cy="57150"/>
          </a:xfrm>
          <a:prstGeom prst="rect">
            <a:avLst/>
          </a:prstGeom>
          <a:solidFill>
            <a:srgbClr val="93C01C"/>
          </a:solidFill>
          <a:ln w="0">
            <a:noFill/>
            <a:prstDash val="solid"/>
          </a:ln>
        </p:spPr>
      </p:sp>
      <p:sp>
        <p:nvSpPr>
          <p:cNvPr id="14" name="Rechteck 13">
            <a:extLst>
              <a:ext uri="{FF2B5EF4-FFF2-40B4-BE49-F238E27FC236}">
                <a16:creationId xmlns:a16="http://schemas.microsoft.com/office/drawing/2014/main" id="{E9B35F58-C4EB-4F6D-B842-ED03897FB724}"/>
              </a:ext>
            </a:extLst>
          </p:cNvPr>
          <p:cNvSpPr>
            <a:spLocks noGrp="1"/>
          </p:cNvSpPr>
          <p:nvPr/>
        </p:nvSpPr>
        <p:spPr>
          <a:xfrm>
            <a:off x="7924800" y="2305050"/>
            <a:ext cx="3048000" cy="552450"/>
          </a:xfrm>
          <a:prstGeom prst="rect">
            <a:avLst/>
          </a:prstGeom>
          <a:noFill/>
          <a:ln w="0">
            <a:noFill/>
            <a:prstDash val="solid"/>
          </a:ln>
        </p:spPr>
        <p:txBody>
          <a:bodyPr wrap="square" lIns="0" tIns="0" rIns="0" bIns="0" anchor="t">
            <a:normAutofit/>
          </a:bodyPr>
          <a:lstStyle/>
          <a:p>
            <a:pPr algn="l">
              <a:defRPr sz="3150" b="1" i="0">
                <a:solidFill>
                  <a:srgbClr val="93C01C"/>
                </a:solidFill>
              </a:defRPr>
            </a:pPr>
            <a:r>
              <a:rPr sz="3150" b="1" i="0">
                <a:solidFill>
                  <a:srgbClr val="93C01C"/>
                </a:solidFill>
              </a:rPr>
              <a:t>03</a:t>
            </a:r>
          </a:p>
        </p:txBody>
      </p:sp>
      <p:sp>
        <p:nvSpPr>
          <p:cNvPr id="15" name="Rechteck 14">
            <a:extLst>
              <a:ext uri="{FF2B5EF4-FFF2-40B4-BE49-F238E27FC236}">
                <a16:creationId xmlns:a16="http://schemas.microsoft.com/office/drawing/2014/main" id="{A6706A61-ED0D-44A2-BB94-1CED275D9D25}"/>
              </a:ext>
            </a:extLst>
          </p:cNvPr>
          <p:cNvSpPr>
            <a:spLocks noGrp="1"/>
          </p:cNvSpPr>
          <p:nvPr/>
        </p:nvSpPr>
        <p:spPr>
          <a:xfrm>
            <a:off x="7924800" y="2952750"/>
            <a:ext cx="3048000" cy="4572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Kleine Changes</a:t>
            </a:r>
          </a:p>
        </p:txBody>
      </p:sp>
      <p:sp>
        <p:nvSpPr>
          <p:cNvPr id="16" name="Rechteck 15">
            <a:extLst>
              <a:ext uri="{FF2B5EF4-FFF2-40B4-BE49-F238E27FC236}">
                <a16:creationId xmlns:a16="http://schemas.microsoft.com/office/drawing/2014/main" id="{7BBFCD3E-EB04-4883-ACA6-2230245D3F18}"/>
              </a:ext>
            </a:extLst>
          </p:cNvPr>
          <p:cNvSpPr>
            <a:spLocks noGrp="1"/>
          </p:cNvSpPr>
          <p:nvPr/>
        </p:nvSpPr>
        <p:spPr>
          <a:xfrm>
            <a:off x="7924800" y="3505200"/>
            <a:ext cx="3048000" cy="1790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Eine überschaubare Anpassung wartet im selben Fluss wie ein großes Feature.</a:t>
            </a:r>
          </a:p>
        </p:txBody>
      </p:sp>
      <p:sp>
        <p:nvSpPr>
          <p:cNvPr id="17" name="Rechteck 16">
            <a:extLst>
              <a:ext uri="{FF2B5EF4-FFF2-40B4-BE49-F238E27FC236}">
                <a16:creationId xmlns:a16="http://schemas.microsoft.com/office/drawing/2014/main" id="{D774D5B2-E8EF-4314-9026-927DDB140B72}"/>
              </a:ext>
            </a:extLst>
          </p:cNvPr>
          <p:cNvSpPr>
            <a:spLocks noGrp="1"/>
          </p:cNvSpPr>
          <p:nvPr/>
        </p:nvSpPr>
        <p:spPr>
          <a:xfrm>
            <a:off x="609600" y="5657850"/>
            <a:ext cx="10972800" cy="514350"/>
          </a:xfrm>
          <a:prstGeom prst="rect">
            <a:avLst/>
          </a:prstGeom>
          <a:solidFill>
            <a:srgbClr val="EAF7F5"/>
          </a:solidFill>
          <a:ln w="0">
            <a:noFill/>
            <a:prstDash val="solid"/>
          </a:ln>
        </p:spPr>
      </p:sp>
      <p:sp>
        <p:nvSpPr>
          <p:cNvPr id="18" name="Rechteck 17">
            <a:extLst>
              <a:ext uri="{FF2B5EF4-FFF2-40B4-BE49-F238E27FC236}">
                <a16:creationId xmlns:a16="http://schemas.microsoft.com/office/drawing/2014/main" id="{97C9C39A-0FE7-4360-A9AF-C8F927BF3CB6}"/>
              </a:ext>
            </a:extLst>
          </p:cNvPr>
          <p:cNvSpPr>
            <a:spLocks noGrp="1"/>
          </p:cNvSpPr>
          <p:nvPr/>
        </p:nvSpPr>
        <p:spPr>
          <a:xfrm>
            <a:off x="838200" y="5781675"/>
            <a:ext cx="10515600" cy="285750"/>
          </a:xfrm>
          <a:prstGeom prst="rect">
            <a:avLst/>
          </a:prstGeom>
          <a:noFill/>
          <a:ln w="0">
            <a:noFill/>
            <a:prstDash val="solid"/>
          </a:ln>
        </p:spPr>
        <p:txBody>
          <a:bodyPr wrap="square" lIns="0" tIns="0" rIns="0" bIns="0" anchor="t">
            <a:normAutofit/>
          </a:bodyPr>
          <a:lstStyle/>
          <a:p>
            <a:pPr algn="ctr">
              <a:defRPr sz="1800" b="1" i="0">
                <a:solidFill>
                  <a:srgbClr val="06443D"/>
                </a:solidFill>
              </a:defRPr>
            </a:pPr>
            <a:r>
              <a:rPr sz="1800" b="1" i="0">
                <a:solidFill>
                  <a:srgbClr val="06443D"/>
                </a:solidFill>
              </a:rPr>
              <a:t>Das Problem ist nicht fehlende Kompetenz – sondern Reibung.</a:t>
            </a:r>
          </a:p>
        </p:txBody>
      </p:sp>
    </p:spTree>
    <p:extLst>
      <p:ext uri="{BB962C8B-B14F-4D97-AF65-F5344CB8AC3E}">
        <p14:creationId xmlns:p14="http://schemas.microsoft.com/office/powerpoint/2010/main" val="2095115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1ECB5C7C-9269-4B46-82FD-1855BE633A59}"/>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DIE IDEE</a:t>
            </a:r>
          </a:p>
        </p:txBody>
      </p:sp>
      <p:sp>
        <p:nvSpPr>
          <p:cNvPr id="2" name="Rechteck 1">
            <a:extLst>
              <a:ext uri="{FF2B5EF4-FFF2-40B4-BE49-F238E27FC236}">
                <a16:creationId xmlns:a16="http://schemas.microsoft.com/office/drawing/2014/main" id="{5E4D2CC8-1F60-42D8-A0B2-D3589E4493C5}"/>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PatchPony macht jedes Projekt agentenfähig – kontrolliert.</a:t>
            </a:r>
          </a:p>
        </p:txBody>
      </p:sp>
      <p:sp>
        <p:nvSpPr>
          <p:cNvPr id="3" name="Rechteck 2">
            <a:extLst>
              <a:ext uri="{FF2B5EF4-FFF2-40B4-BE49-F238E27FC236}">
                <a16:creationId xmlns:a16="http://schemas.microsoft.com/office/drawing/2014/main" id="{A8631FFC-6297-423C-B1BF-1A6A6AD1A0DF}"/>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E09D21E5-C0AD-4F94-B7A5-2706A9976B60}"/>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03</a:t>
            </a:r>
          </a:p>
        </p:txBody>
      </p:sp>
      <p:sp>
        <p:nvSpPr>
          <p:cNvPr id="5" name="Rechteck 4">
            <a:extLst>
              <a:ext uri="{FF2B5EF4-FFF2-40B4-BE49-F238E27FC236}">
                <a16:creationId xmlns:a16="http://schemas.microsoft.com/office/drawing/2014/main" id="{272FF956-74D6-4176-9EB1-A4C4EDE3E226}"/>
              </a:ext>
            </a:extLst>
          </p:cNvPr>
          <p:cNvSpPr>
            <a:spLocks noGrp="1"/>
          </p:cNvSpPr>
          <p:nvPr/>
        </p:nvSpPr>
        <p:spPr>
          <a:xfrm>
            <a:off x="3581400" y="3228975"/>
            <a:ext cx="723900" cy="28575"/>
          </a:xfrm>
          <a:prstGeom prst="rect">
            <a:avLst/>
          </a:prstGeom>
          <a:solidFill>
            <a:srgbClr val="0A6156"/>
          </a:solidFill>
          <a:ln w="0">
            <a:noFill/>
            <a:prstDash val="solid"/>
          </a:ln>
        </p:spPr>
      </p:sp>
      <p:sp>
        <p:nvSpPr>
          <p:cNvPr id="6" name="Rechteck 5">
            <a:extLst>
              <a:ext uri="{FF2B5EF4-FFF2-40B4-BE49-F238E27FC236}">
                <a16:creationId xmlns:a16="http://schemas.microsoft.com/office/drawing/2014/main" id="{EA6C5885-1B7F-4590-8A2B-6BCB4B969FE1}"/>
              </a:ext>
            </a:extLst>
          </p:cNvPr>
          <p:cNvSpPr>
            <a:spLocks noGrp="1"/>
          </p:cNvSpPr>
          <p:nvPr/>
        </p:nvSpPr>
        <p:spPr>
          <a:xfrm>
            <a:off x="7886700" y="3228975"/>
            <a:ext cx="723900" cy="28575"/>
          </a:xfrm>
          <a:prstGeom prst="rect">
            <a:avLst/>
          </a:prstGeom>
          <a:solidFill>
            <a:srgbClr val="0A6156"/>
          </a:solidFill>
          <a:ln w="0">
            <a:noFill/>
            <a:prstDash val="solid"/>
          </a:ln>
        </p:spPr>
      </p:sp>
      <p:sp>
        <p:nvSpPr>
          <p:cNvPr id="7" name="Rechteck 6">
            <a:extLst>
              <a:ext uri="{FF2B5EF4-FFF2-40B4-BE49-F238E27FC236}">
                <a16:creationId xmlns:a16="http://schemas.microsoft.com/office/drawing/2014/main" id="{D3630947-5631-480F-8F5A-CA76A4CDCCAB}"/>
              </a:ext>
            </a:extLst>
          </p:cNvPr>
          <p:cNvSpPr>
            <a:spLocks noGrp="1"/>
          </p:cNvSpPr>
          <p:nvPr/>
        </p:nvSpPr>
        <p:spPr>
          <a:xfrm>
            <a:off x="3733800" y="2943225"/>
            <a:ext cx="43815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8" name="Rechteck 7">
            <a:extLst>
              <a:ext uri="{FF2B5EF4-FFF2-40B4-BE49-F238E27FC236}">
                <a16:creationId xmlns:a16="http://schemas.microsoft.com/office/drawing/2014/main" id="{2BFAD419-0B8A-4B82-B64C-0D07AF516A02}"/>
              </a:ext>
            </a:extLst>
          </p:cNvPr>
          <p:cNvSpPr>
            <a:spLocks noGrp="1"/>
          </p:cNvSpPr>
          <p:nvPr/>
        </p:nvSpPr>
        <p:spPr>
          <a:xfrm>
            <a:off x="8039100" y="2943225"/>
            <a:ext cx="43815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9" name="Rechteck: abgerundete Ecken 8">
            <a:extLst>
              <a:ext uri="{FF2B5EF4-FFF2-40B4-BE49-F238E27FC236}">
                <a16:creationId xmlns:a16="http://schemas.microsoft.com/office/drawing/2014/main" id="{BD534CBE-77DF-49C1-8EFE-D0F641A949C7}"/>
              </a:ext>
            </a:extLst>
          </p:cNvPr>
          <p:cNvSpPr>
            <a:spLocks noGrp="1"/>
          </p:cNvSpPr>
          <p:nvPr/>
        </p:nvSpPr>
        <p:spPr>
          <a:xfrm>
            <a:off x="609600" y="2057400"/>
            <a:ext cx="2971800" cy="3181350"/>
          </a:xfrm>
          <a:prstGeom prst="roundRect">
            <a:avLst>
              <a:gd name="adj" fmla="val 5769"/>
            </a:avLst>
          </a:prstGeom>
          <a:solidFill>
            <a:srgbClr val="F6F6F4"/>
          </a:solidFill>
          <a:ln w="0">
            <a:noFill/>
            <a:prstDash val="solid"/>
          </a:ln>
        </p:spPr>
      </p:sp>
      <p:sp>
        <p:nvSpPr>
          <p:cNvPr id="10" name="Rechteck 9">
            <a:extLst>
              <a:ext uri="{FF2B5EF4-FFF2-40B4-BE49-F238E27FC236}">
                <a16:creationId xmlns:a16="http://schemas.microsoft.com/office/drawing/2014/main" id="{96F70933-7CCB-4D52-AAAE-12072F8E16DB}"/>
              </a:ext>
            </a:extLst>
          </p:cNvPr>
          <p:cNvSpPr>
            <a:spLocks noGrp="1"/>
          </p:cNvSpPr>
          <p:nvPr/>
        </p:nvSpPr>
        <p:spPr>
          <a:xfrm>
            <a:off x="8763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KONTEXT</a:t>
            </a:r>
          </a:p>
        </p:txBody>
      </p:sp>
      <p:sp>
        <p:nvSpPr>
          <p:cNvPr id="11" name="Rechteck 10">
            <a:extLst>
              <a:ext uri="{FF2B5EF4-FFF2-40B4-BE49-F238E27FC236}">
                <a16:creationId xmlns:a16="http://schemas.microsoft.com/office/drawing/2014/main" id="{9D3CA68C-35AE-421D-A192-4354D51E006E}"/>
              </a:ext>
            </a:extLst>
          </p:cNvPr>
          <p:cNvSpPr>
            <a:spLocks noGrp="1"/>
          </p:cNvSpPr>
          <p:nvPr/>
        </p:nvSpPr>
        <p:spPr>
          <a:xfrm>
            <a:off x="876300" y="2781300"/>
            <a:ext cx="2438400" cy="495300"/>
          </a:xfrm>
          <a:prstGeom prst="rect">
            <a:avLst/>
          </a:prstGeom>
          <a:noFill/>
          <a:ln w="0">
            <a:noFill/>
            <a:prstDash val="solid"/>
          </a:ln>
        </p:spPr>
        <p:txBody>
          <a:bodyPr wrap="square" lIns="0" tIns="0" rIns="0" bIns="0" anchor="t">
            <a:normAutofit/>
          </a:bodyPr>
          <a:lstStyle/>
          <a:p>
            <a:pPr algn="l">
              <a:defRPr sz="2175" b="1" i="0">
                <a:solidFill>
                  <a:srgbClr val="000020"/>
                </a:solidFill>
              </a:defRPr>
            </a:pPr>
            <a:r>
              <a:rPr sz="2175" b="1" i="0">
                <a:solidFill>
                  <a:srgbClr val="000020"/>
                </a:solidFill>
              </a:rPr>
              <a:t>Projektwissen</a:t>
            </a:r>
          </a:p>
        </p:txBody>
      </p:sp>
      <p:sp>
        <p:nvSpPr>
          <p:cNvPr id="12" name="Rechteck 11">
            <a:extLst>
              <a:ext uri="{FF2B5EF4-FFF2-40B4-BE49-F238E27FC236}">
                <a16:creationId xmlns:a16="http://schemas.microsoft.com/office/drawing/2014/main" id="{93D18DB8-5580-4A33-A296-F3C1C9C6DE1C}"/>
              </a:ext>
            </a:extLst>
          </p:cNvPr>
          <p:cNvSpPr>
            <a:spLocks noGrp="1"/>
          </p:cNvSpPr>
          <p:nvPr/>
        </p:nvSpPr>
        <p:spPr>
          <a:xfrm>
            <a:off x="876300" y="3505200"/>
            <a:ext cx="2438400" cy="1371600"/>
          </a:xfrm>
          <a:prstGeom prst="rect">
            <a:avLst/>
          </a:prstGeom>
          <a:noFill/>
          <a:ln w="0">
            <a:noFill/>
            <a:prstDash val="solid"/>
          </a:ln>
        </p:spPr>
        <p:txBody>
          <a:bodyPr wrap="square" lIns="0" tIns="0" rIns="0" bIns="0" anchor="t">
            <a:normAutofit/>
          </a:bodyPr>
          <a:lstStyle/>
          <a:p>
            <a:pPr algn="l">
              <a:defRPr sz="1575" b="0" i="0">
                <a:solidFill>
                  <a:srgbClr val="5D626B"/>
                </a:solidFill>
              </a:defRPr>
            </a:pPr>
            <a:r>
              <a:rPr sz="1575" b="0" i="0">
                <a:solidFill>
                  <a:srgbClr val="5D626B"/>
                </a:solidFill>
              </a:rPr>
              <a:t>Skills</a:t>
            </a:r>
          </a:p>
          <a:p>
            <a:pPr algn="l">
              <a:defRPr sz="1575" b="0" i="0">
                <a:solidFill>
                  <a:srgbClr val="5D626B"/>
                </a:solidFill>
              </a:defRPr>
            </a:pPr>
            <a:r>
              <a:rPr sz="1575" b="0" i="0">
                <a:solidFill>
                  <a:srgbClr val="5D626B"/>
                </a:solidFill>
              </a:rPr>
              <a:t>Code &amp; Configs</a:t>
            </a:r>
          </a:p>
          <a:p>
            <a:pPr algn="l">
              <a:defRPr sz="1575" b="0" i="0">
                <a:solidFill>
                  <a:srgbClr val="5D626B"/>
                </a:solidFill>
              </a:defRPr>
            </a:pPr>
            <a:r>
              <a:rPr sz="1575" b="0" i="0">
                <a:solidFill>
                  <a:srgbClr val="5D626B"/>
                </a:solidFill>
              </a:rPr>
              <a:t>Wissensvault</a:t>
            </a:r>
          </a:p>
          <a:p>
            <a:pPr algn="l">
              <a:defRPr sz="1575" b="0" i="0">
                <a:solidFill>
                  <a:srgbClr val="5D626B"/>
                </a:solidFill>
              </a:defRPr>
            </a:pPr>
            <a:r>
              <a:rPr sz="1575" b="0" i="0">
                <a:solidFill>
                  <a:srgbClr val="5D626B"/>
                </a:solidFill>
              </a:rPr>
              <a:t>Dokumentation</a:t>
            </a:r>
          </a:p>
        </p:txBody>
      </p:sp>
      <p:sp>
        <p:nvSpPr>
          <p:cNvPr id="13" name="Rechteck: abgerundete Ecken 12">
            <a:extLst>
              <a:ext uri="{FF2B5EF4-FFF2-40B4-BE49-F238E27FC236}">
                <a16:creationId xmlns:a16="http://schemas.microsoft.com/office/drawing/2014/main" id="{BB4561BF-55EC-4B66-A0C1-4A29EACC3DC1}"/>
              </a:ext>
            </a:extLst>
          </p:cNvPr>
          <p:cNvSpPr>
            <a:spLocks noGrp="1"/>
          </p:cNvSpPr>
          <p:nvPr/>
        </p:nvSpPr>
        <p:spPr>
          <a:xfrm>
            <a:off x="4305300" y="2057400"/>
            <a:ext cx="2971800" cy="3181350"/>
          </a:xfrm>
          <a:prstGeom prst="roundRect">
            <a:avLst>
              <a:gd name="adj" fmla="val 5769"/>
            </a:avLst>
          </a:prstGeom>
          <a:solidFill>
            <a:srgbClr val="CCECE8"/>
          </a:solidFill>
          <a:ln w="0">
            <a:noFill/>
            <a:prstDash val="solid"/>
          </a:ln>
        </p:spPr>
      </p:sp>
      <p:sp>
        <p:nvSpPr>
          <p:cNvPr id="14" name="Rechteck 13">
            <a:extLst>
              <a:ext uri="{FF2B5EF4-FFF2-40B4-BE49-F238E27FC236}">
                <a16:creationId xmlns:a16="http://schemas.microsoft.com/office/drawing/2014/main" id="{84376B8E-DF47-478E-9C55-E2F46861BA41}"/>
              </a:ext>
            </a:extLst>
          </p:cNvPr>
          <p:cNvSpPr>
            <a:spLocks noGrp="1"/>
          </p:cNvSpPr>
          <p:nvPr/>
        </p:nvSpPr>
        <p:spPr>
          <a:xfrm>
            <a:off x="45720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PATCHPONY</a:t>
            </a:r>
          </a:p>
        </p:txBody>
      </p:sp>
      <p:sp>
        <p:nvSpPr>
          <p:cNvPr id="15" name="Rechteck 14">
            <a:extLst>
              <a:ext uri="{FF2B5EF4-FFF2-40B4-BE49-F238E27FC236}">
                <a16:creationId xmlns:a16="http://schemas.microsoft.com/office/drawing/2014/main" id="{785D3AA9-0601-44FE-AA7B-C70B0E87C2DF}"/>
              </a:ext>
            </a:extLst>
          </p:cNvPr>
          <p:cNvSpPr>
            <a:spLocks noGrp="1"/>
          </p:cNvSpPr>
          <p:nvPr/>
        </p:nvSpPr>
        <p:spPr>
          <a:xfrm>
            <a:off x="4572000" y="2781300"/>
            <a:ext cx="2438400" cy="495300"/>
          </a:xfrm>
          <a:prstGeom prst="rect">
            <a:avLst/>
          </a:prstGeom>
          <a:noFill/>
          <a:ln w="0">
            <a:noFill/>
            <a:prstDash val="solid"/>
          </a:ln>
        </p:spPr>
        <p:txBody>
          <a:bodyPr wrap="square" lIns="0" tIns="0" rIns="0" bIns="0" anchor="t">
            <a:normAutofit/>
          </a:bodyPr>
          <a:lstStyle/>
          <a:p>
            <a:pPr algn="l">
              <a:defRPr sz="2175" b="1" i="0">
                <a:solidFill>
                  <a:srgbClr val="000020"/>
                </a:solidFill>
              </a:defRPr>
            </a:pPr>
            <a:r>
              <a:rPr sz="2175" b="1" i="0">
                <a:solidFill>
                  <a:srgbClr val="000020"/>
                </a:solidFill>
              </a:rPr>
              <a:t>Sichere Runtime</a:t>
            </a:r>
          </a:p>
        </p:txBody>
      </p:sp>
      <p:sp>
        <p:nvSpPr>
          <p:cNvPr id="16" name="Rechteck 15">
            <a:extLst>
              <a:ext uri="{FF2B5EF4-FFF2-40B4-BE49-F238E27FC236}">
                <a16:creationId xmlns:a16="http://schemas.microsoft.com/office/drawing/2014/main" id="{ADE5011C-AE9C-47CD-A3C2-6A837DD1C070}"/>
              </a:ext>
            </a:extLst>
          </p:cNvPr>
          <p:cNvSpPr>
            <a:spLocks noGrp="1"/>
          </p:cNvSpPr>
          <p:nvPr/>
        </p:nvSpPr>
        <p:spPr>
          <a:xfrm>
            <a:off x="4572000" y="3505200"/>
            <a:ext cx="2438400" cy="1371600"/>
          </a:xfrm>
          <a:prstGeom prst="rect">
            <a:avLst/>
          </a:prstGeom>
          <a:noFill/>
          <a:ln w="0">
            <a:noFill/>
            <a:prstDash val="solid"/>
          </a:ln>
        </p:spPr>
        <p:txBody>
          <a:bodyPr wrap="square" lIns="0" tIns="0" rIns="0" bIns="0" anchor="t">
            <a:normAutofit/>
          </a:bodyPr>
          <a:lstStyle/>
          <a:p>
            <a:pPr algn="l">
              <a:defRPr sz="1575" b="0" i="0">
                <a:solidFill>
                  <a:srgbClr val="5D626B"/>
                </a:solidFill>
              </a:defRPr>
            </a:pPr>
            <a:r>
              <a:rPr sz="1575" b="0" i="0">
                <a:solidFill>
                  <a:srgbClr val="5D626B"/>
                </a:solidFill>
              </a:rPr>
              <a:t>Isolierte Session</a:t>
            </a:r>
          </a:p>
          <a:p>
            <a:pPr algn="l">
              <a:defRPr sz="1575" b="0" i="0">
                <a:solidFill>
                  <a:srgbClr val="5D626B"/>
                </a:solidFill>
              </a:defRPr>
            </a:pPr>
            <a:r>
              <a:rPr sz="1575" b="0" i="0">
                <a:solidFill>
                  <a:srgbClr val="5D626B"/>
                </a:solidFill>
              </a:rPr>
              <a:t>Klare Policies</a:t>
            </a:r>
          </a:p>
          <a:p>
            <a:pPr algn="l">
              <a:defRPr sz="1575" b="0" i="0">
                <a:solidFill>
                  <a:srgbClr val="5D626B"/>
                </a:solidFill>
              </a:defRPr>
            </a:pPr>
            <a:r>
              <a:rPr sz="1575" b="0" i="0">
                <a:solidFill>
                  <a:srgbClr val="5D626B"/>
                </a:solidFill>
              </a:rPr>
              <a:t>Audit &amp; Limits</a:t>
            </a:r>
          </a:p>
        </p:txBody>
      </p:sp>
      <p:sp>
        <p:nvSpPr>
          <p:cNvPr id="17" name="Rechteck: abgerundete Ecken 16">
            <a:extLst>
              <a:ext uri="{FF2B5EF4-FFF2-40B4-BE49-F238E27FC236}">
                <a16:creationId xmlns:a16="http://schemas.microsoft.com/office/drawing/2014/main" id="{84AD4976-A766-422E-BB50-8A2DF0651E93}"/>
              </a:ext>
            </a:extLst>
          </p:cNvPr>
          <p:cNvSpPr>
            <a:spLocks noGrp="1"/>
          </p:cNvSpPr>
          <p:nvPr/>
        </p:nvSpPr>
        <p:spPr>
          <a:xfrm>
            <a:off x="8610600" y="2057400"/>
            <a:ext cx="2971800" cy="3181350"/>
          </a:xfrm>
          <a:prstGeom prst="roundRect">
            <a:avLst>
              <a:gd name="adj" fmla="val 5769"/>
            </a:avLst>
          </a:prstGeom>
          <a:solidFill>
            <a:srgbClr val="F6F6F4"/>
          </a:solidFill>
          <a:ln w="0">
            <a:noFill/>
            <a:prstDash val="solid"/>
          </a:ln>
        </p:spPr>
      </p:sp>
      <p:sp>
        <p:nvSpPr>
          <p:cNvPr id="18" name="Rechteck 17">
            <a:extLst>
              <a:ext uri="{FF2B5EF4-FFF2-40B4-BE49-F238E27FC236}">
                <a16:creationId xmlns:a16="http://schemas.microsoft.com/office/drawing/2014/main" id="{9802FDC8-F922-4ACD-9B09-498C724E5809}"/>
              </a:ext>
            </a:extLst>
          </p:cNvPr>
          <p:cNvSpPr>
            <a:spLocks noGrp="1"/>
          </p:cNvSpPr>
          <p:nvPr/>
        </p:nvSpPr>
        <p:spPr>
          <a:xfrm>
            <a:off x="88773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ERGEBNIS</a:t>
            </a:r>
          </a:p>
        </p:txBody>
      </p:sp>
      <p:sp>
        <p:nvSpPr>
          <p:cNvPr id="19" name="Rechteck 18">
            <a:extLst>
              <a:ext uri="{FF2B5EF4-FFF2-40B4-BE49-F238E27FC236}">
                <a16:creationId xmlns:a16="http://schemas.microsoft.com/office/drawing/2014/main" id="{90C5CFF5-A5C9-4093-85A5-107133E7B409}"/>
              </a:ext>
            </a:extLst>
          </p:cNvPr>
          <p:cNvSpPr>
            <a:spLocks noGrp="1"/>
          </p:cNvSpPr>
          <p:nvPr/>
        </p:nvSpPr>
        <p:spPr>
          <a:xfrm>
            <a:off x="8877300" y="2781300"/>
            <a:ext cx="2438400" cy="495300"/>
          </a:xfrm>
          <a:prstGeom prst="rect">
            <a:avLst/>
          </a:prstGeom>
          <a:noFill/>
          <a:ln w="0">
            <a:noFill/>
            <a:prstDash val="solid"/>
          </a:ln>
        </p:spPr>
        <p:txBody>
          <a:bodyPr wrap="square" lIns="0" tIns="0" rIns="0" bIns="0" anchor="t">
            <a:normAutofit/>
          </a:bodyPr>
          <a:lstStyle/>
          <a:p>
            <a:pPr algn="l">
              <a:defRPr sz="2175" b="1" i="0">
                <a:solidFill>
                  <a:srgbClr val="000020"/>
                </a:solidFill>
              </a:defRPr>
            </a:pPr>
            <a:r>
              <a:rPr sz="2175" b="1" i="0">
                <a:solidFill>
                  <a:srgbClr val="000020"/>
                </a:solidFill>
              </a:rPr>
              <a:t>Nutzbare Arbeit</a:t>
            </a:r>
          </a:p>
        </p:txBody>
      </p:sp>
      <p:sp>
        <p:nvSpPr>
          <p:cNvPr id="20" name="Rechteck 19">
            <a:extLst>
              <a:ext uri="{FF2B5EF4-FFF2-40B4-BE49-F238E27FC236}">
                <a16:creationId xmlns:a16="http://schemas.microsoft.com/office/drawing/2014/main" id="{063413A0-5408-4981-B118-F147FD416BA5}"/>
              </a:ext>
            </a:extLst>
          </p:cNvPr>
          <p:cNvSpPr>
            <a:spLocks noGrp="1"/>
          </p:cNvSpPr>
          <p:nvPr/>
        </p:nvSpPr>
        <p:spPr>
          <a:xfrm>
            <a:off x="8877300" y="3505200"/>
            <a:ext cx="2438400" cy="1371600"/>
          </a:xfrm>
          <a:prstGeom prst="rect">
            <a:avLst/>
          </a:prstGeom>
          <a:noFill/>
          <a:ln w="0">
            <a:noFill/>
            <a:prstDash val="solid"/>
          </a:ln>
        </p:spPr>
        <p:txBody>
          <a:bodyPr wrap="square" lIns="0" tIns="0" rIns="0" bIns="0" anchor="t">
            <a:normAutofit/>
          </a:bodyPr>
          <a:lstStyle/>
          <a:p>
            <a:pPr algn="l">
              <a:defRPr sz="1575" b="0" i="0">
                <a:solidFill>
                  <a:srgbClr val="5D626B"/>
                </a:solidFill>
              </a:defRPr>
            </a:pPr>
            <a:r>
              <a:rPr sz="1575" b="0" i="0">
                <a:solidFill>
                  <a:srgbClr val="5D626B"/>
                </a:solidFill>
              </a:rPr>
              <a:t>Antwort</a:t>
            </a:r>
          </a:p>
          <a:p>
            <a:pPr algn="l">
              <a:defRPr sz="1575" b="0" i="0">
                <a:solidFill>
                  <a:srgbClr val="5D626B"/>
                </a:solidFill>
              </a:defRPr>
            </a:pPr>
            <a:r>
              <a:rPr sz="1575" b="0" i="0">
                <a:solidFill>
                  <a:srgbClr val="5D626B"/>
                </a:solidFill>
              </a:rPr>
              <a:t>Umsetzungsplan</a:t>
            </a:r>
          </a:p>
          <a:p>
            <a:pPr algn="l">
              <a:defRPr sz="1575" b="0" i="0">
                <a:solidFill>
                  <a:srgbClr val="5D626B"/>
                </a:solidFill>
              </a:defRPr>
            </a:pPr>
            <a:r>
              <a:rPr sz="1575" b="0" i="0">
                <a:solidFill>
                  <a:srgbClr val="5D626B"/>
                </a:solidFill>
              </a:rPr>
              <a:t>Validierter Diff</a:t>
            </a:r>
          </a:p>
          <a:p>
            <a:pPr algn="l">
              <a:defRPr sz="1575" b="0" i="0">
                <a:solidFill>
                  <a:srgbClr val="5D626B"/>
                </a:solidFill>
              </a:defRPr>
            </a:pPr>
            <a:r>
              <a:rPr sz="1575" b="0" i="0">
                <a:solidFill>
                  <a:srgbClr val="5D626B"/>
                </a:solidFill>
              </a:rPr>
              <a:t>Merge Request</a:t>
            </a:r>
          </a:p>
        </p:txBody>
      </p:sp>
      <p:sp>
        <p:nvSpPr>
          <p:cNvPr id="21" name="Rechteck 20">
            <a:extLst>
              <a:ext uri="{FF2B5EF4-FFF2-40B4-BE49-F238E27FC236}">
                <a16:creationId xmlns:a16="http://schemas.microsoft.com/office/drawing/2014/main" id="{19A87ACA-C851-4416-83BE-B6B2B749EF9B}"/>
              </a:ext>
            </a:extLst>
          </p:cNvPr>
          <p:cNvSpPr>
            <a:spLocks noGrp="1"/>
          </p:cNvSpPr>
          <p:nvPr/>
        </p:nvSpPr>
        <p:spPr>
          <a:xfrm>
            <a:off x="609600" y="5657850"/>
            <a:ext cx="10972800" cy="476250"/>
          </a:xfrm>
          <a:prstGeom prst="rect">
            <a:avLst/>
          </a:prstGeom>
          <a:noFill/>
          <a:ln w="0">
            <a:noFill/>
            <a:prstDash val="solid"/>
          </a:ln>
        </p:spPr>
        <p:txBody>
          <a:bodyPr wrap="square" lIns="0" tIns="0" rIns="0" bIns="0" anchor="t">
            <a:normAutofit/>
          </a:bodyPr>
          <a:lstStyle/>
          <a:p>
            <a:pPr algn="ctr">
              <a:defRPr sz="1650" b="1" i="0">
                <a:solidFill>
                  <a:srgbClr val="06443D"/>
                </a:solidFill>
              </a:defRPr>
            </a:pPr>
            <a:r>
              <a:rPr sz="1650" b="1" i="0">
                <a:solidFill>
                  <a:srgbClr val="06443D"/>
                </a:solidFill>
              </a:rPr>
              <a:t>Nicht: „Das Modell darf auf unseren Rechner.“  Sondern: ein standardisiertes Projekt-Environment für Agenten.</a:t>
            </a:r>
          </a:p>
        </p:txBody>
      </p:sp>
    </p:spTree>
    <p:extLst>
      <p:ext uri="{BB962C8B-B14F-4D97-AF65-F5344CB8AC3E}">
        <p14:creationId xmlns:p14="http://schemas.microsoft.com/office/powerpoint/2010/main" val="120639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79EA1397-6EC6-4DB9-AF98-ACD544E535BF}"/>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DIE USE-CASES</a:t>
            </a:r>
          </a:p>
        </p:txBody>
      </p:sp>
      <p:sp>
        <p:nvSpPr>
          <p:cNvPr id="2" name="Rechteck 1">
            <a:extLst>
              <a:ext uri="{FF2B5EF4-FFF2-40B4-BE49-F238E27FC236}">
                <a16:creationId xmlns:a16="http://schemas.microsoft.com/office/drawing/2014/main" id="{8ACC7722-FF5B-43FE-AD7F-DA660B609D86}"/>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Vier Einstiege. Ein gemeinsames System.</a:t>
            </a:r>
          </a:p>
        </p:txBody>
      </p:sp>
      <p:sp>
        <p:nvSpPr>
          <p:cNvPr id="3" name="Rechteck 2">
            <a:extLst>
              <a:ext uri="{FF2B5EF4-FFF2-40B4-BE49-F238E27FC236}">
                <a16:creationId xmlns:a16="http://schemas.microsoft.com/office/drawing/2014/main" id="{50FEFB5B-B59B-4461-9275-7F08221DA253}"/>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67694543-FEFA-4757-B37F-01F26B49F958}"/>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04</a:t>
            </a:r>
          </a:p>
        </p:txBody>
      </p:sp>
      <p:sp>
        <p:nvSpPr>
          <p:cNvPr id="5" name="Rechteck 4">
            <a:extLst>
              <a:ext uri="{FF2B5EF4-FFF2-40B4-BE49-F238E27FC236}">
                <a16:creationId xmlns:a16="http://schemas.microsoft.com/office/drawing/2014/main" id="{885EE5D2-5099-4821-AD81-FC3B99C045EC}"/>
              </a:ext>
            </a:extLst>
          </p:cNvPr>
          <p:cNvSpPr>
            <a:spLocks noGrp="1"/>
          </p:cNvSpPr>
          <p:nvPr/>
        </p:nvSpPr>
        <p:spPr>
          <a:xfrm>
            <a:off x="609600" y="2076450"/>
            <a:ext cx="2324100" cy="47625"/>
          </a:xfrm>
          <a:prstGeom prst="rect">
            <a:avLst/>
          </a:prstGeom>
          <a:solidFill>
            <a:srgbClr val="93C01C"/>
          </a:solidFill>
          <a:ln w="0">
            <a:noFill/>
            <a:prstDash val="solid"/>
          </a:ln>
        </p:spPr>
      </p:sp>
      <p:sp>
        <p:nvSpPr>
          <p:cNvPr id="6" name="Rechteck 5">
            <a:extLst>
              <a:ext uri="{FF2B5EF4-FFF2-40B4-BE49-F238E27FC236}">
                <a16:creationId xmlns:a16="http://schemas.microsoft.com/office/drawing/2014/main" id="{A0C65277-7012-471E-9E24-B253652ACAA1}"/>
              </a:ext>
            </a:extLst>
          </p:cNvPr>
          <p:cNvSpPr>
            <a:spLocks noGrp="1"/>
          </p:cNvSpPr>
          <p:nvPr/>
        </p:nvSpPr>
        <p:spPr>
          <a:xfrm>
            <a:off x="609600" y="2324100"/>
            <a:ext cx="2324100" cy="495300"/>
          </a:xfrm>
          <a:prstGeom prst="rect">
            <a:avLst/>
          </a:prstGeom>
          <a:noFill/>
          <a:ln w="0">
            <a:noFill/>
            <a:prstDash val="solid"/>
          </a:ln>
        </p:spPr>
        <p:txBody>
          <a:bodyPr wrap="square" lIns="0" tIns="0" rIns="0" bIns="0" anchor="t">
            <a:normAutofit/>
          </a:bodyPr>
          <a:lstStyle/>
          <a:p>
            <a:pPr algn="l">
              <a:defRPr sz="2700" b="1" i="0">
                <a:solidFill>
                  <a:srgbClr val="93C01C"/>
                </a:solidFill>
              </a:defRPr>
            </a:pPr>
            <a:r>
              <a:rPr sz="2700" b="1" i="0">
                <a:solidFill>
                  <a:srgbClr val="93C01C"/>
                </a:solidFill>
              </a:rPr>
              <a:t>01</a:t>
            </a:r>
          </a:p>
        </p:txBody>
      </p:sp>
      <p:sp>
        <p:nvSpPr>
          <p:cNvPr id="7" name="Rechteck 6">
            <a:extLst>
              <a:ext uri="{FF2B5EF4-FFF2-40B4-BE49-F238E27FC236}">
                <a16:creationId xmlns:a16="http://schemas.microsoft.com/office/drawing/2014/main" id="{9B83DD04-9F7D-476B-B4D4-9519B22F84DD}"/>
              </a:ext>
            </a:extLst>
          </p:cNvPr>
          <p:cNvSpPr>
            <a:spLocks noGrp="1"/>
          </p:cNvSpPr>
          <p:nvPr/>
        </p:nvSpPr>
        <p:spPr>
          <a:xfrm>
            <a:off x="609600" y="2971800"/>
            <a:ext cx="2324100" cy="552450"/>
          </a:xfrm>
          <a:prstGeom prst="rect">
            <a:avLst/>
          </a:prstGeom>
          <a:noFill/>
          <a:ln w="0">
            <a:noFill/>
            <a:prstDash val="solid"/>
          </a:ln>
        </p:spPr>
        <p:txBody>
          <a:bodyPr wrap="square" lIns="0" tIns="0" rIns="0" bIns="0" anchor="t">
            <a:normAutofit/>
          </a:bodyPr>
          <a:lstStyle/>
          <a:p>
            <a:pPr algn="l">
              <a:defRPr sz="1800" b="1" i="0">
                <a:solidFill>
                  <a:srgbClr val="000020"/>
                </a:solidFill>
              </a:defRPr>
            </a:pPr>
            <a:r>
              <a:rPr sz="1800" b="1" i="0">
                <a:solidFill>
                  <a:srgbClr val="000020"/>
                </a:solidFill>
              </a:rPr>
              <a:t>Bugreports</a:t>
            </a:r>
          </a:p>
        </p:txBody>
      </p:sp>
      <p:sp>
        <p:nvSpPr>
          <p:cNvPr id="8" name="Rechteck 7">
            <a:extLst>
              <a:ext uri="{FF2B5EF4-FFF2-40B4-BE49-F238E27FC236}">
                <a16:creationId xmlns:a16="http://schemas.microsoft.com/office/drawing/2014/main" id="{0B4CED2B-F490-45FB-9685-9FC075CEF38E}"/>
              </a:ext>
            </a:extLst>
          </p:cNvPr>
          <p:cNvSpPr>
            <a:spLocks noGrp="1"/>
          </p:cNvSpPr>
          <p:nvPr/>
        </p:nvSpPr>
        <p:spPr>
          <a:xfrm>
            <a:off x="609600" y="3733800"/>
            <a:ext cx="2324100" cy="1466850"/>
          </a:xfrm>
          <a:prstGeom prst="rect">
            <a:avLst/>
          </a:prstGeom>
          <a:noFill/>
          <a:ln w="0">
            <a:noFill/>
            <a:prstDash val="solid"/>
          </a:ln>
        </p:spPr>
        <p:txBody>
          <a:bodyPr wrap="square" lIns="0" tIns="0" rIns="0" bIns="0" anchor="t">
            <a:normAutofit/>
          </a:bodyPr>
          <a:lstStyle/>
          <a:p>
            <a:pPr algn="l">
              <a:defRPr sz="1275" b="0" i="0">
                <a:solidFill>
                  <a:srgbClr val="5D626B"/>
                </a:solidFill>
              </a:defRPr>
            </a:pPr>
            <a:r>
              <a:rPr sz="1275" b="0" i="0">
                <a:solidFill>
                  <a:srgbClr val="5D626B"/>
                </a:solidFill>
              </a:rPr>
              <a:t>Fehlende Infos erkennen</a:t>
            </a:r>
          </a:p>
          <a:p>
            <a:pPr algn="l">
              <a:defRPr sz="1275" b="0" i="0">
                <a:solidFill>
                  <a:srgbClr val="5D626B"/>
                </a:solidFill>
              </a:defRPr>
            </a:pPr>
            <a:r>
              <a:rPr sz="1275" b="0" i="0">
                <a:solidFill>
                  <a:srgbClr val="5D626B"/>
                </a:solidFill>
              </a:rPr>
              <a:t>Relevanten Code finden</a:t>
            </a:r>
          </a:p>
          <a:p>
            <a:pPr algn="l">
              <a:defRPr sz="1275" b="0" i="0">
                <a:solidFill>
                  <a:srgbClr val="5D626B"/>
                </a:solidFill>
              </a:defRPr>
            </a:pPr>
            <a:r>
              <a:rPr sz="1275" b="0" i="0">
                <a:solidFill>
                  <a:srgbClr val="5D626B"/>
                </a:solidFill>
              </a:rPr>
              <a:t>Umsetzungsplan erstellen</a:t>
            </a:r>
          </a:p>
          <a:p>
            <a:pPr algn="l">
              <a:defRPr sz="1275" b="0" i="0">
                <a:solidFill>
                  <a:srgbClr val="5D626B"/>
                </a:solidFill>
              </a:defRPr>
            </a:pPr>
            <a:r>
              <a:rPr sz="1275" b="0" i="0">
                <a:solidFill>
                  <a:srgbClr val="5D626B"/>
                </a:solidFill>
              </a:rPr>
              <a:t>Kleine Fixes als MR vorbereiten</a:t>
            </a:r>
          </a:p>
        </p:txBody>
      </p:sp>
      <p:sp>
        <p:nvSpPr>
          <p:cNvPr id="9" name="Rechteck 8">
            <a:extLst>
              <a:ext uri="{FF2B5EF4-FFF2-40B4-BE49-F238E27FC236}">
                <a16:creationId xmlns:a16="http://schemas.microsoft.com/office/drawing/2014/main" id="{B99EF4C0-1223-4A6E-827B-1B9FE603F848}"/>
              </a:ext>
            </a:extLst>
          </p:cNvPr>
          <p:cNvSpPr>
            <a:spLocks noGrp="1"/>
          </p:cNvSpPr>
          <p:nvPr/>
        </p:nvSpPr>
        <p:spPr>
          <a:xfrm>
            <a:off x="3390900" y="2076450"/>
            <a:ext cx="2324100" cy="47625"/>
          </a:xfrm>
          <a:prstGeom prst="rect">
            <a:avLst/>
          </a:prstGeom>
          <a:solidFill>
            <a:srgbClr val="0A6156"/>
          </a:solidFill>
          <a:ln w="0">
            <a:noFill/>
            <a:prstDash val="solid"/>
          </a:ln>
        </p:spPr>
      </p:sp>
      <p:sp>
        <p:nvSpPr>
          <p:cNvPr id="10" name="Rechteck 9">
            <a:extLst>
              <a:ext uri="{FF2B5EF4-FFF2-40B4-BE49-F238E27FC236}">
                <a16:creationId xmlns:a16="http://schemas.microsoft.com/office/drawing/2014/main" id="{E8050939-8740-41A4-84A8-EFE86AB41C5D}"/>
              </a:ext>
            </a:extLst>
          </p:cNvPr>
          <p:cNvSpPr>
            <a:spLocks noGrp="1"/>
          </p:cNvSpPr>
          <p:nvPr/>
        </p:nvSpPr>
        <p:spPr>
          <a:xfrm>
            <a:off x="3390900" y="2324100"/>
            <a:ext cx="2324100" cy="495300"/>
          </a:xfrm>
          <a:prstGeom prst="rect">
            <a:avLst/>
          </a:prstGeom>
          <a:noFill/>
          <a:ln w="0">
            <a:noFill/>
            <a:prstDash val="solid"/>
          </a:ln>
        </p:spPr>
        <p:txBody>
          <a:bodyPr wrap="square" lIns="0" tIns="0" rIns="0" bIns="0" anchor="t">
            <a:normAutofit/>
          </a:bodyPr>
          <a:lstStyle/>
          <a:p>
            <a:pPr algn="l">
              <a:defRPr sz="2700" b="1" i="0">
                <a:solidFill>
                  <a:srgbClr val="0A6156"/>
                </a:solidFill>
              </a:defRPr>
            </a:pPr>
            <a:r>
              <a:rPr sz="2700" b="1" i="0">
                <a:solidFill>
                  <a:srgbClr val="0A6156"/>
                </a:solidFill>
              </a:rPr>
              <a:t>02</a:t>
            </a:r>
          </a:p>
        </p:txBody>
      </p:sp>
      <p:sp>
        <p:nvSpPr>
          <p:cNvPr id="11" name="Rechteck 10">
            <a:extLst>
              <a:ext uri="{FF2B5EF4-FFF2-40B4-BE49-F238E27FC236}">
                <a16:creationId xmlns:a16="http://schemas.microsoft.com/office/drawing/2014/main" id="{C352BCA4-B44F-40F6-B7E5-4EF79DD7F458}"/>
              </a:ext>
            </a:extLst>
          </p:cNvPr>
          <p:cNvSpPr>
            <a:spLocks noGrp="1"/>
          </p:cNvSpPr>
          <p:nvPr/>
        </p:nvSpPr>
        <p:spPr>
          <a:xfrm>
            <a:off x="3390900" y="2971800"/>
            <a:ext cx="2324100" cy="552450"/>
          </a:xfrm>
          <a:prstGeom prst="rect">
            <a:avLst/>
          </a:prstGeom>
          <a:noFill/>
          <a:ln w="0">
            <a:noFill/>
            <a:prstDash val="solid"/>
          </a:ln>
        </p:spPr>
        <p:txBody>
          <a:bodyPr wrap="square" lIns="0" tIns="0" rIns="0" bIns="0" anchor="t">
            <a:normAutofit/>
          </a:bodyPr>
          <a:lstStyle/>
          <a:p>
            <a:pPr algn="l">
              <a:defRPr sz="1800" b="1" i="0">
                <a:solidFill>
                  <a:srgbClr val="000020"/>
                </a:solidFill>
              </a:defRPr>
            </a:pPr>
            <a:r>
              <a:rPr sz="1800" b="1" i="0">
                <a:solidFill>
                  <a:srgbClr val="000020"/>
                </a:solidFill>
              </a:rPr>
              <a:t>Change Requests</a:t>
            </a:r>
          </a:p>
        </p:txBody>
      </p:sp>
      <p:sp>
        <p:nvSpPr>
          <p:cNvPr id="12" name="Rechteck 11">
            <a:extLst>
              <a:ext uri="{FF2B5EF4-FFF2-40B4-BE49-F238E27FC236}">
                <a16:creationId xmlns:a16="http://schemas.microsoft.com/office/drawing/2014/main" id="{23B64A1D-1E5E-47BC-80AC-594270CD422A}"/>
              </a:ext>
            </a:extLst>
          </p:cNvPr>
          <p:cNvSpPr>
            <a:spLocks noGrp="1"/>
          </p:cNvSpPr>
          <p:nvPr/>
        </p:nvSpPr>
        <p:spPr>
          <a:xfrm>
            <a:off x="3390900" y="3733800"/>
            <a:ext cx="2324100" cy="1466850"/>
          </a:xfrm>
          <a:prstGeom prst="rect">
            <a:avLst/>
          </a:prstGeom>
          <a:noFill/>
          <a:ln w="0">
            <a:noFill/>
            <a:prstDash val="solid"/>
          </a:ln>
        </p:spPr>
        <p:txBody>
          <a:bodyPr wrap="square" lIns="0" tIns="0" rIns="0" bIns="0" anchor="t">
            <a:normAutofit/>
          </a:bodyPr>
          <a:lstStyle/>
          <a:p>
            <a:pPr algn="l">
              <a:defRPr sz="1275" b="0" i="0">
                <a:solidFill>
                  <a:srgbClr val="5D626B"/>
                </a:solidFill>
              </a:defRPr>
            </a:pPr>
            <a:r>
              <a:rPr sz="1275" b="0" i="0">
                <a:solidFill>
                  <a:srgbClr val="5D626B"/>
                </a:solidFill>
              </a:rPr>
              <a:t>Config gezielt anpassen</a:t>
            </a:r>
          </a:p>
          <a:p>
            <a:pPr algn="l">
              <a:defRPr sz="1275" b="0" i="0">
                <a:solidFill>
                  <a:srgbClr val="5D626B"/>
                </a:solidFill>
              </a:defRPr>
            </a:pPr>
            <a:r>
              <a:rPr sz="1275" b="0" i="0">
                <a:solidFill>
                  <a:srgbClr val="5D626B"/>
                </a:solidFill>
              </a:rPr>
              <a:t>Schema &amp; Regeln prüfen</a:t>
            </a:r>
          </a:p>
          <a:p>
            <a:pPr algn="l">
              <a:defRPr sz="1275" b="0" i="0">
                <a:solidFill>
                  <a:srgbClr val="5D626B"/>
                </a:solidFill>
              </a:defRPr>
            </a:pPr>
            <a:r>
              <a:rPr sz="1275" b="0" i="0">
                <a:solidFill>
                  <a:srgbClr val="5D626B"/>
                </a:solidFill>
              </a:rPr>
              <a:t>Validieren und testen</a:t>
            </a:r>
          </a:p>
          <a:p>
            <a:pPr algn="l">
              <a:defRPr sz="1275" b="0" i="0">
                <a:solidFill>
                  <a:srgbClr val="5D626B"/>
                </a:solidFill>
              </a:defRPr>
            </a:pPr>
            <a:r>
              <a:rPr sz="1275" b="0" i="0">
                <a:solidFill>
                  <a:srgbClr val="5D626B"/>
                </a:solidFill>
              </a:rPr>
              <a:t>Zur Review bereitstellen</a:t>
            </a:r>
          </a:p>
        </p:txBody>
      </p:sp>
      <p:sp>
        <p:nvSpPr>
          <p:cNvPr id="13" name="Rechteck 12">
            <a:extLst>
              <a:ext uri="{FF2B5EF4-FFF2-40B4-BE49-F238E27FC236}">
                <a16:creationId xmlns:a16="http://schemas.microsoft.com/office/drawing/2014/main" id="{22077070-C303-4776-A699-A4B048773DBF}"/>
              </a:ext>
            </a:extLst>
          </p:cNvPr>
          <p:cNvSpPr>
            <a:spLocks noGrp="1"/>
          </p:cNvSpPr>
          <p:nvPr/>
        </p:nvSpPr>
        <p:spPr>
          <a:xfrm>
            <a:off x="6172200" y="2076450"/>
            <a:ext cx="2324100" cy="47625"/>
          </a:xfrm>
          <a:prstGeom prst="rect">
            <a:avLst/>
          </a:prstGeom>
          <a:solidFill>
            <a:srgbClr val="93C01C"/>
          </a:solidFill>
          <a:ln w="0">
            <a:noFill/>
            <a:prstDash val="solid"/>
          </a:ln>
        </p:spPr>
      </p:sp>
      <p:sp>
        <p:nvSpPr>
          <p:cNvPr id="14" name="Rechteck 13">
            <a:extLst>
              <a:ext uri="{FF2B5EF4-FFF2-40B4-BE49-F238E27FC236}">
                <a16:creationId xmlns:a16="http://schemas.microsoft.com/office/drawing/2014/main" id="{1B3C7CF1-48F8-4112-A977-4326E2691BD6}"/>
              </a:ext>
            </a:extLst>
          </p:cNvPr>
          <p:cNvSpPr>
            <a:spLocks noGrp="1"/>
          </p:cNvSpPr>
          <p:nvPr/>
        </p:nvSpPr>
        <p:spPr>
          <a:xfrm>
            <a:off x="6172200" y="2324100"/>
            <a:ext cx="2324100" cy="495300"/>
          </a:xfrm>
          <a:prstGeom prst="rect">
            <a:avLst/>
          </a:prstGeom>
          <a:noFill/>
          <a:ln w="0">
            <a:noFill/>
            <a:prstDash val="solid"/>
          </a:ln>
        </p:spPr>
        <p:txBody>
          <a:bodyPr wrap="square" lIns="0" tIns="0" rIns="0" bIns="0" anchor="t">
            <a:normAutofit/>
          </a:bodyPr>
          <a:lstStyle/>
          <a:p>
            <a:pPr algn="l">
              <a:defRPr sz="2700" b="1" i="0">
                <a:solidFill>
                  <a:srgbClr val="93C01C"/>
                </a:solidFill>
              </a:defRPr>
            </a:pPr>
            <a:r>
              <a:rPr sz="2700" b="1" i="0">
                <a:solidFill>
                  <a:srgbClr val="93C01C"/>
                </a:solidFill>
              </a:rPr>
              <a:t>03</a:t>
            </a:r>
          </a:p>
        </p:txBody>
      </p:sp>
      <p:sp>
        <p:nvSpPr>
          <p:cNvPr id="15" name="Rechteck 14">
            <a:extLst>
              <a:ext uri="{FF2B5EF4-FFF2-40B4-BE49-F238E27FC236}">
                <a16:creationId xmlns:a16="http://schemas.microsoft.com/office/drawing/2014/main" id="{81102767-127D-4EB2-ADE2-21077048C855}"/>
              </a:ext>
            </a:extLst>
          </p:cNvPr>
          <p:cNvSpPr>
            <a:spLocks noGrp="1"/>
          </p:cNvSpPr>
          <p:nvPr/>
        </p:nvSpPr>
        <p:spPr>
          <a:xfrm>
            <a:off x="6172200" y="2971800"/>
            <a:ext cx="2324100" cy="552450"/>
          </a:xfrm>
          <a:prstGeom prst="rect">
            <a:avLst/>
          </a:prstGeom>
          <a:noFill/>
          <a:ln w="0">
            <a:noFill/>
            <a:prstDash val="solid"/>
          </a:ln>
        </p:spPr>
        <p:txBody>
          <a:bodyPr wrap="square" lIns="0" tIns="0" rIns="0" bIns="0" anchor="t">
            <a:normAutofit/>
          </a:bodyPr>
          <a:lstStyle/>
          <a:p>
            <a:pPr algn="l">
              <a:defRPr sz="1800" b="1" i="0">
                <a:solidFill>
                  <a:srgbClr val="000020"/>
                </a:solidFill>
              </a:defRPr>
            </a:pPr>
            <a:r>
              <a:rPr sz="1800" b="1" i="0">
                <a:solidFill>
                  <a:srgbClr val="000020"/>
                </a:solidFill>
              </a:rPr>
              <a:t>Entwicklerfragen</a:t>
            </a:r>
          </a:p>
        </p:txBody>
      </p:sp>
      <p:sp>
        <p:nvSpPr>
          <p:cNvPr id="16" name="Rechteck 15">
            <a:extLst>
              <a:ext uri="{FF2B5EF4-FFF2-40B4-BE49-F238E27FC236}">
                <a16:creationId xmlns:a16="http://schemas.microsoft.com/office/drawing/2014/main" id="{DCAFC7ED-EED9-4158-BE1E-7D210BC3733A}"/>
              </a:ext>
            </a:extLst>
          </p:cNvPr>
          <p:cNvSpPr>
            <a:spLocks noGrp="1"/>
          </p:cNvSpPr>
          <p:nvPr/>
        </p:nvSpPr>
        <p:spPr>
          <a:xfrm>
            <a:off x="6172200" y="3733800"/>
            <a:ext cx="2324100" cy="1466850"/>
          </a:xfrm>
          <a:prstGeom prst="rect">
            <a:avLst/>
          </a:prstGeom>
          <a:noFill/>
          <a:ln w="0">
            <a:noFill/>
            <a:prstDash val="solid"/>
          </a:ln>
        </p:spPr>
        <p:txBody>
          <a:bodyPr wrap="square" lIns="0" tIns="0" rIns="0" bIns="0" anchor="t">
            <a:normAutofit/>
          </a:bodyPr>
          <a:lstStyle/>
          <a:p>
            <a:pPr algn="l">
              <a:defRPr sz="1275" b="0" i="0">
                <a:solidFill>
                  <a:srgbClr val="5D626B"/>
                </a:solidFill>
              </a:defRPr>
            </a:pPr>
            <a:r>
              <a:rPr sz="1275" b="0" i="0">
                <a:solidFill>
                  <a:srgbClr val="5D626B"/>
                </a:solidFill>
              </a:rPr>
              <a:t>Code schneller finden</a:t>
            </a:r>
          </a:p>
          <a:p>
            <a:pPr algn="l">
              <a:defRPr sz="1275" b="0" i="0">
                <a:solidFill>
                  <a:srgbClr val="5D626B"/>
                </a:solidFill>
              </a:defRPr>
            </a:pPr>
            <a:r>
              <a:rPr sz="1275" b="0" i="0">
                <a:solidFill>
                  <a:srgbClr val="5D626B"/>
                </a:solidFill>
              </a:rPr>
              <a:t>Zusammenhänge erklären</a:t>
            </a:r>
          </a:p>
          <a:p>
            <a:pPr algn="l">
              <a:defRPr sz="1275" b="0" i="0">
                <a:solidFill>
                  <a:srgbClr val="5D626B"/>
                </a:solidFill>
              </a:defRPr>
            </a:pPr>
            <a:r>
              <a:rPr sz="1275" b="0" i="0">
                <a:solidFill>
                  <a:srgbClr val="5D626B"/>
                </a:solidFill>
              </a:rPr>
              <a:t>Suchwege vorschlagen</a:t>
            </a:r>
          </a:p>
          <a:p>
            <a:pPr algn="l">
              <a:defRPr sz="1275" b="0" i="0">
                <a:solidFill>
                  <a:srgbClr val="5D626B"/>
                </a:solidFill>
              </a:defRPr>
            </a:pPr>
            <a:r>
              <a:rPr sz="1275" b="0" i="0">
                <a:solidFill>
                  <a:srgbClr val="5D626B"/>
                </a:solidFill>
              </a:rPr>
              <a:t>Konsequent read-only</a:t>
            </a:r>
          </a:p>
        </p:txBody>
      </p:sp>
      <p:sp>
        <p:nvSpPr>
          <p:cNvPr id="17" name="Rechteck 16">
            <a:extLst>
              <a:ext uri="{FF2B5EF4-FFF2-40B4-BE49-F238E27FC236}">
                <a16:creationId xmlns:a16="http://schemas.microsoft.com/office/drawing/2014/main" id="{D46EF171-DFB7-434C-BAA7-323002A1F906}"/>
              </a:ext>
            </a:extLst>
          </p:cNvPr>
          <p:cNvSpPr>
            <a:spLocks noGrp="1"/>
          </p:cNvSpPr>
          <p:nvPr/>
        </p:nvSpPr>
        <p:spPr>
          <a:xfrm>
            <a:off x="8953500" y="2076450"/>
            <a:ext cx="2324100" cy="47625"/>
          </a:xfrm>
          <a:prstGeom prst="rect">
            <a:avLst/>
          </a:prstGeom>
          <a:solidFill>
            <a:srgbClr val="0A6156"/>
          </a:solidFill>
          <a:ln w="0">
            <a:noFill/>
            <a:prstDash val="solid"/>
          </a:ln>
        </p:spPr>
      </p:sp>
      <p:sp>
        <p:nvSpPr>
          <p:cNvPr id="18" name="Rechteck 17">
            <a:extLst>
              <a:ext uri="{FF2B5EF4-FFF2-40B4-BE49-F238E27FC236}">
                <a16:creationId xmlns:a16="http://schemas.microsoft.com/office/drawing/2014/main" id="{C0DE0FA3-2542-43F6-BF39-9EB7A7114EEF}"/>
              </a:ext>
            </a:extLst>
          </p:cNvPr>
          <p:cNvSpPr>
            <a:spLocks noGrp="1"/>
          </p:cNvSpPr>
          <p:nvPr/>
        </p:nvSpPr>
        <p:spPr>
          <a:xfrm>
            <a:off x="8953500" y="2324100"/>
            <a:ext cx="2324100" cy="495300"/>
          </a:xfrm>
          <a:prstGeom prst="rect">
            <a:avLst/>
          </a:prstGeom>
          <a:noFill/>
          <a:ln w="0">
            <a:noFill/>
            <a:prstDash val="solid"/>
          </a:ln>
        </p:spPr>
        <p:txBody>
          <a:bodyPr wrap="square" lIns="0" tIns="0" rIns="0" bIns="0" anchor="t">
            <a:normAutofit/>
          </a:bodyPr>
          <a:lstStyle/>
          <a:p>
            <a:pPr algn="l">
              <a:defRPr sz="2700" b="1" i="0">
                <a:solidFill>
                  <a:srgbClr val="0A6156"/>
                </a:solidFill>
              </a:defRPr>
            </a:pPr>
            <a:r>
              <a:rPr sz="2700" b="1" i="0">
                <a:solidFill>
                  <a:srgbClr val="0A6156"/>
                </a:solidFill>
              </a:rPr>
              <a:t>04</a:t>
            </a:r>
          </a:p>
        </p:txBody>
      </p:sp>
      <p:sp>
        <p:nvSpPr>
          <p:cNvPr id="19" name="Rechteck 18">
            <a:extLst>
              <a:ext uri="{FF2B5EF4-FFF2-40B4-BE49-F238E27FC236}">
                <a16:creationId xmlns:a16="http://schemas.microsoft.com/office/drawing/2014/main" id="{8F0BEF26-9BE4-4A03-AD36-7DE11F35C083}"/>
              </a:ext>
            </a:extLst>
          </p:cNvPr>
          <p:cNvSpPr>
            <a:spLocks noGrp="1"/>
          </p:cNvSpPr>
          <p:nvPr/>
        </p:nvSpPr>
        <p:spPr>
          <a:xfrm>
            <a:off x="8953500" y="2971800"/>
            <a:ext cx="2324100" cy="552450"/>
          </a:xfrm>
          <a:prstGeom prst="rect">
            <a:avLst/>
          </a:prstGeom>
          <a:noFill/>
          <a:ln w="0">
            <a:noFill/>
            <a:prstDash val="solid"/>
          </a:ln>
        </p:spPr>
        <p:txBody>
          <a:bodyPr wrap="square" lIns="0" tIns="0" rIns="0" bIns="0" anchor="t">
            <a:normAutofit/>
          </a:bodyPr>
          <a:lstStyle/>
          <a:p>
            <a:pPr algn="l">
              <a:defRPr sz="1800" b="1" i="0">
                <a:solidFill>
                  <a:srgbClr val="000020"/>
                </a:solidFill>
              </a:defRPr>
            </a:pPr>
            <a:r>
              <a:rPr sz="1800" b="1" i="0">
                <a:solidFill>
                  <a:srgbClr val="000020"/>
                </a:solidFill>
              </a:rPr>
              <a:t>Wissensvault</a:t>
            </a:r>
          </a:p>
        </p:txBody>
      </p:sp>
      <p:sp>
        <p:nvSpPr>
          <p:cNvPr id="20" name="Rechteck 19">
            <a:extLst>
              <a:ext uri="{FF2B5EF4-FFF2-40B4-BE49-F238E27FC236}">
                <a16:creationId xmlns:a16="http://schemas.microsoft.com/office/drawing/2014/main" id="{2BCF88E1-C7EB-4FD1-87E8-14F2201E1021}"/>
              </a:ext>
            </a:extLst>
          </p:cNvPr>
          <p:cNvSpPr>
            <a:spLocks noGrp="1"/>
          </p:cNvSpPr>
          <p:nvPr/>
        </p:nvSpPr>
        <p:spPr>
          <a:xfrm>
            <a:off x="8953500" y="3733800"/>
            <a:ext cx="2324100" cy="1466850"/>
          </a:xfrm>
          <a:prstGeom prst="rect">
            <a:avLst/>
          </a:prstGeom>
          <a:noFill/>
          <a:ln w="0">
            <a:noFill/>
            <a:prstDash val="solid"/>
          </a:ln>
        </p:spPr>
        <p:txBody>
          <a:bodyPr wrap="square" lIns="0" tIns="0" rIns="0" bIns="0" anchor="t">
            <a:normAutofit/>
          </a:bodyPr>
          <a:lstStyle/>
          <a:p>
            <a:pPr algn="l">
              <a:defRPr sz="1275" b="0" i="0">
                <a:solidFill>
                  <a:srgbClr val="5D626B"/>
                </a:solidFill>
              </a:defRPr>
            </a:pPr>
            <a:r>
              <a:rPr sz="1275" b="0" i="0">
                <a:solidFill>
                  <a:srgbClr val="5D626B"/>
                </a:solidFill>
              </a:rPr>
              <a:t>Firmenwissen finden</a:t>
            </a:r>
          </a:p>
          <a:p>
            <a:pPr algn="l">
              <a:defRPr sz="1275" b="0" i="0">
                <a:solidFill>
                  <a:srgbClr val="5D626B"/>
                </a:solidFill>
              </a:defRPr>
            </a:pPr>
            <a:r>
              <a:rPr sz="1275" b="0" i="0">
                <a:solidFill>
                  <a:srgbClr val="5D626B"/>
                </a:solidFill>
              </a:rPr>
              <a:t>Links nachvollziehen</a:t>
            </a:r>
          </a:p>
          <a:p>
            <a:pPr algn="l">
              <a:defRPr sz="1275" b="0" i="0">
                <a:solidFill>
                  <a:srgbClr val="5D626B"/>
                </a:solidFill>
              </a:defRPr>
            </a:pPr>
            <a:r>
              <a:rPr sz="1275" b="0" i="0">
                <a:solidFill>
                  <a:srgbClr val="5D626B"/>
                </a:solidFill>
              </a:rPr>
              <a:t>Wissenslücken erkennen</a:t>
            </a:r>
          </a:p>
          <a:p>
            <a:pPr algn="l">
              <a:defRPr sz="1275" b="0" i="0">
                <a:solidFill>
                  <a:srgbClr val="5D626B"/>
                </a:solidFill>
              </a:defRPr>
            </a:pPr>
            <a:r>
              <a:rPr sz="1275" b="0" i="0">
                <a:solidFill>
                  <a:srgbClr val="5D626B"/>
                </a:solidFill>
              </a:rPr>
              <a:t>Änderung als MR</a:t>
            </a:r>
          </a:p>
        </p:txBody>
      </p:sp>
      <p:sp>
        <p:nvSpPr>
          <p:cNvPr id="21" name="Rechteck 20">
            <a:extLst>
              <a:ext uri="{FF2B5EF4-FFF2-40B4-BE49-F238E27FC236}">
                <a16:creationId xmlns:a16="http://schemas.microsoft.com/office/drawing/2014/main" id="{DC18FE10-968F-4A75-AA46-5D537DDB1BC0}"/>
              </a:ext>
            </a:extLst>
          </p:cNvPr>
          <p:cNvSpPr>
            <a:spLocks noGrp="1"/>
          </p:cNvSpPr>
          <p:nvPr/>
        </p:nvSpPr>
        <p:spPr>
          <a:xfrm>
            <a:off x="609600" y="5867400"/>
            <a:ext cx="10972800" cy="304800"/>
          </a:xfrm>
          <a:prstGeom prst="rect">
            <a:avLst/>
          </a:prstGeom>
          <a:noFill/>
          <a:ln w="0">
            <a:noFill/>
            <a:prstDash val="solid"/>
          </a:ln>
        </p:spPr>
        <p:txBody>
          <a:bodyPr wrap="square" lIns="0" tIns="0" rIns="0" bIns="0" anchor="t">
            <a:normAutofit/>
          </a:bodyPr>
          <a:lstStyle/>
          <a:p>
            <a:pPr algn="ctr">
              <a:defRPr sz="1725" b="1" i="0">
                <a:solidFill>
                  <a:srgbClr val="06443D"/>
                </a:solidFill>
              </a:defRPr>
            </a:pPr>
            <a:r>
              <a:rPr sz="1725" b="1" i="0">
                <a:solidFill>
                  <a:srgbClr val="06443D"/>
                </a:solidFill>
              </a:rPr>
              <a:t>Vier Rollen. Unterschiedliche Rechte. Eine sichere Runtime.</a:t>
            </a:r>
          </a:p>
        </p:txBody>
      </p:sp>
    </p:spTree>
    <p:extLst>
      <p:ext uri="{BB962C8B-B14F-4D97-AF65-F5344CB8AC3E}">
        <p14:creationId xmlns:p14="http://schemas.microsoft.com/office/powerpoint/2010/main" val="1661468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867A268F-5A4C-441D-BFBE-876E0BBB48FA}"/>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DER WISSENSVAULT</a:t>
            </a:r>
          </a:p>
        </p:txBody>
      </p:sp>
      <p:sp>
        <p:nvSpPr>
          <p:cNvPr id="2" name="Rechteck 1">
            <a:extLst>
              <a:ext uri="{FF2B5EF4-FFF2-40B4-BE49-F238E27FC236}">
                <a16:creationId xmlns:a16="http://schemas.microsoft.com/office/drawing/2014/main" id="{89CCD82F-63E7-4A8F-96C6-483FCBF37063}"/>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Firmenwissen wird lebendig – und reviewbar.</a:t>
            </a:r>
          </a:p>
        </p:txBody>
      </p:sp>
      <p:sp>
        <p:nvSpPr>
          <p:cNvPr id="3" name="Rechteck 2">
            <a:extLst>
              <a:ext uri="{FF2B5EF4-FFF2-40B4-BE49-F238E27FC236}">
                <a16:creationId xmlns:a16="http://schemas.microsoft.com/office/drawing/2014/main" id="{A885DEFF-41B1-48B0-A677-15C764356149}"/>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B6397A77-BC19-494A-B3FF-FAF72A60545C}"/>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05</a:t>
            </a:r>
          </a:p>
        </p:txBody>
      </p:sp>
      <p:sp>
        <p:nvSpPr>
          <p:cNvPr id="5" name="Rechteck 4">
            <a:extLst>
              <a:ext uri="{FF2B5EF4-FFF2-40B4-BE49-F238E27FC236}">
                <a16:creationId xmlns:a16="http://schemas.microsoft.com/office/drawing/2014/main" id="{DAE3FDC8-DFCD-4892-88B7-EAFBCF1722C2}"/>
              </a:ext>
            </a:extLst>
          </p:cNvPr>
          <p:cNvSpPr>
            <a:spLocks noGrp="1"/>
          </p:cNvSpPr>
          <p:nvPr/>
        </p:nvSpPr>
        <p:spPr>
          <a:xfrm>
            <a:off x="3581400" y="3228975"/>
            <a:ext cx="723900" cy="28575"/>
          </a:xfrm>
          <a:prstGeom prst="rect">
            <a:avLst/>
          </a:prstGeom>
          <a:solidFill>
            <a:srgbClr val="0A6156"/>
          </a:solidFill>
          <a:ln w="0">
            <a:noFill/>
            <a:prstDash val="solid"/>
          </a:ln>
        </p:spPr>
      </p:sp>
      <p:sp>
        <p:nvSpPr>
          <p:cNvPr id="6" name="Rechteck 5">
            <a:extLst>
              <a:ext uri="{FF2B5EF4-FFF2-40B4-BE49-F238E27FC236}">
                <a16:creationId xmlns:a16="http://schemas.microsoft.com/office/drawing/2014/main" id="{797B2863-1754-4B6F-B1CF-72D5AEFC19C8}"/>
              </a:ext>
            </a:extLst>
          </p:cNvPr>
          <p:cNvSpPr>
            <a:spLocks noGrp="1"/>
          </p:cNvSpPr>
          <p:nvPr/>
        </p:nvSpPr>
        <p:spPr>
          <a:xfrm>
            <a:off x="7886700" y="3228975"/>
            <a:ext cx="723900" cy="28575"/>
          </a:xfrm>
          <a:prstGeom prst="rect">
            <a:avLst/>
          </a:prstGeom>
          <a:solidFill>
            <a:srgbClr val="0A6156"/>
          </a:solidFill>
          <a:ln w="0">
            <a:noFill/>
            <a:prstDash val="solid"/>
          </a:ln>
        </p:spPr>
      </p:sp>
      <p:sp>
        <p:nvSpPr>
          <p:cNvPr id="7" name="Rechteck 6">
            <a:extLst>
              <a:ext uri="{FF2B5EF4-FFF2-40B4-BE49-F238E27FC236}">
                <a16:creationId xmlns:a16="http://schemas.microsoft.com/office/drawing/2014/main" id="{AF4E6DC3-3CFD-4192-BB90-9557E968CD96}"/>
              </a:ext>
            </a:extLst>
          </p:cNvPr>
          <p:cNvSpPr>
            <a:spLocks noGrp="1"/>
          </p:cNvSpPr>
          <p:nvPr/>
        </p:nvSpPr>
        <p:spPr>
          <a:xfrm>
            <a:off x="3714750" y="2924175"/>
            <a:ext cx="476250" cy="533400"/>
          </a:xfrm>
          <a:prstGeom prst="rect">
            <a:avLst/>
          </a:prstGeom>
          <a:noFill/>
          <a:ln w="0">
            <a:noFill/>
            <a:prstDash val="solid"/>
          </a:ln>
        </p:spPr>
        <p:txBody>
          <a:bodyPr wrap="square" lIns="0" tIns="0" rIns="0" bIns="0" anchor="t">
            <a:normAutofit/>
          </a:bodyPr>
          <a:lstStyle/>
          <a:p>
            <a:pPr algn="ctr">
              <a:defRPr sz="2700" b="1" i="0">
                <a:solidFill>
                  <a:srgbClr val="0A6156"/>
                </a:solidFill>
              </a:defRPr>
            </a:pPr>
            <a:r>
              <a:rPr sz="2700" b="1" i="0">
                <a:solidFill>
                  <a:srgbClr val="0A6156"/>
                </a:solidFill>
              </a:rPr>
              <a:t>↔</a:t>
            </a:r>
          </a:p>
        </p:txBody>
      </p:sp>
      <p:sp>
        <p:nvSpPr>
          <p:cNvPr id="8" name="Rechteck 7">
            <a:extLst>
              <a:ext uri="{FF2B5EF4-FFF2-40B4-BE49-F238E27FC236}">
                <a16:creationId xmlns:a16="http://schemas.microsoft.com/office/drawing/2014/main" id="{759D38A3-7C25-4DD2-9E99-990BFE461B61}"/>
              </a:ext>
            </a:extLst>
          </p:cNvPr>
          <p:cNvSpPr>
            <a:spLocks noGrp="1"/>
          </p:cNvSpPr>
          <p:nvPr/>
        </p:nvSpPr>
        <p:spPr>
          <a:xfrm>
            <a:off x="8020050" y="2924175"/>
            <a:ext cx="476250" cy="533400"/>
          </a:xfrm>
          <a:prstGeom prst="rect">
            <a:avLst/>
          </a:prstGeom>
          <a:noFill/>
          <a:ln w="0">
            <a:noFill/>
            <a:prstDash val="solid"/>
          </a:ln>
        </p:spPr>
        <p:txBody>
          <a:bodyPr wrap="square" lIns="0" tIns="0" rIns="0" bIns="0" anchor="t">
            <a:normAutofit/>
          </a:bodyPr>
          <a:lstStyle/>
          <a:p>
            <a:pPr algn="ctr">
              <a:defRPr sz="2700" b="1" i="0">
                <a:solidFill>
                  <a:srgbClr val="0A6156"/>
                </a:solidFill>
              </a:defRPr>
            </a:pPr>
            <a:r>
              <a:rPr sz="2700" b="1" i="0">
                <a:solidFill>
                  <a:srgbClr val="0A6156"/>
                </a:solidFill>
              </a:rPr>
              <a:t>↔</a:t>
            </a:r>
          </a:p>
        </p:txBody>
      </p:sp>
      <p:sp>
        <p:nvSpPr>
          <p:cNvPr id="9" name="Rechteck: abgerundete Ecken 8">
            <a:extLst>
              <a:ext uri="{FF2B5EF4-FFF2-40B4-BE49-F238E27FC236}">
                <a16:creationId xmlns:a16="http://schemas.microsoft.com/office/drawing/2014/main" id="{59E0FE7C-AE7F-4577-A058-D4B8A792A238}"/>
              </a:ext>
            </a:extLst>
          </p:cNvPr>
          <p:cNvSpPr>
            <a:spLocks noGrp="1"/>
          </p:cNvSpPr>
          <p:nvPr/>
        </p:nvSpPr>
        <p:spPr>
          <a:xfrm>
            <a:off x="609600" y="2057400"/>
            <a:ext cx="2971800" cy="3181350"/>
          </a:xfrm>
          <a:prstGeom prst="roundRect">
            <a:avLst>
              <a:gd name="adj" fmla="val 5769"/>
            </a:avLst>
          </a:prstGeom>
          <a:solidFill>
            <a:srgbClr val="F6F6F4"/>
          </a:solidFill>
          <a:ln w="0">
            <a:noFill/>
            <a:prstDash val="solid"/>
          </a:ln>
        </p:spPr>
      </p:sp>
      <p:sp>
        <p:nvSpPr>
          <p:cNvPr id="10" name="Rechteck 9">
            <a:extLst>
              <a:ext uri="{FF2B5EF4-FFF2-40B4-BE49-F238E27FC236}">
                <a16:creationId xmlns:a16="http://schemas.microsoft.com/office/drawing/2014/main" id="{54B6EDD5-7454-40CF-9277-E475B0146F46}"/>
              </a:ext>
            </a:extLst>
          </p:cNvPr>
          <p:cNvSpPr>
            <a:spLocks noGrp="1"/>
          </p:cNvSpPr>
          <p:nvPr/>
        </p:nvSpPr>
        <p:spPr>
          <a:xfrm>
            <a:off x="8763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GIT + MARKDOWN</a:t>
            </a:r>
          </a:p>
        </p:txBody>
      </p:sp>
      <p:sp>
        <p:nvSpPr>
          <p:cNvPr id="11" name="Rechteck 10">
            <a:extLst>
              <a:ext uri="{FF2B5EF4-FFF2-40B4-BE49-F238E27FC236}">
                <a16:creationId xmlns:a16="http://schemas.microsoft.com/office/drawing/2014/main" id="{6063BE7E-AC40-4B5C-9220-70F139412E03}"/>
              </a:ext>
            </a:extLst>
          </p:cNvPr>
          <p:cNvSpPr>
            <a:spLocks noGrp="1"/>
          </p:cNvSpPr>
          <p:nvPr/>
        </p:nvSpPr>
        <p:spPr>
          <a:xfrm>
            <a:off x="876300" y="2781300"/>
            <a:ext cx="2438400" cy="55245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Obsidian Vault</a:t>
            </a:r>
          </a:p>
        </p:txBody>
      </p:sp>
      <p:sp>
        <p:nvSpPr>
          <p:cNvPr id="12" name="Rechteck 11">
            <a:extLst>
              <a:ext uri="{FF2B5EF4-FFF2-40B4-BE49-F238E27FC236}">
                <a16:creationId xmlns:a16="http://schemas.microsoft.com/office/drawing/2014/main" id="{9FD96F32-A6B3-40A3-8440-AC95035E7083}"/>
              </a:ext>
            </a:extLst>
          </p:cNvPr>
          <p:cNvSpPr>
            <a:spLocks noGrp="1"/>
          </p:cNvSpPr>
          <p:nvPr/>
        </p:nvSpPr>
        <p:spPr>
          <a:xfrm>
            <a:off x="876300" y="3524250"/>
            <a:ext cx="2438400" cy="1409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Module</a:t>
            </a:r>
          </a:p>
          <a:p>
            <a:pPr algn="l">
              <a:defRPr sz="1425" b="0" i="0">
                <a:solidFill>
                  <a:srgbClr val="5D626B"/>
                </a:solidFill>
              </a:defRPr>
            </a:pPr>
            <a:r>
              <a:rPr sz="1425" b="0" i="0">
                <a:solidFill>
                  <a:srgbClr val="5D626B"/>
                </a:solidFill>
              </a:rPr>
              <a:t>Architektur</a:t>
            </a:r>
          </a:p>
          <a:p>
            <a:pPr algn="l">
              <a:defRPr sz="1425" b="0" i="0">
                <a:solidFill>
                  <a:srgbClr val="5D626B"/>
                </a:solidFill>
              </a:defRPr>
            </a:pPr>
            <a:r>
              <a:rPr sz="1425" b="0" i="0">
                <a:solidFill>
                  <a:srgbClr val="5D626B"/>
                </a:solidFill>
              </a:rPr>
              <a:t>Prozesse</a:t>
            </a:r>
          </a:p>
          <a:p>
            <a:pPr algn="l">
              <a:defRPr sz="1425" b="0" i="0">
                <a:solidFill>
                  <a:srgbClr val="5D626B"/>
                </a:solidFill>
              </a:defRPr>
            </a:pPr>
            <a:r>
              <a:rPr sz="1425" b="0" i="0">
                <a:solidFill>
                  <a:srgbClr val="5D626B"/>
                </a:solidFill>
              </a:rPr>
              <a:t>Glossar</a:t>
            </a:r>
          </a:p>
        </p:txBody>
      </p:sp>
      <p:sp>
        <p:nvSpPr>
          <p:cNvPr id="13" name="Rechteck: abgerundete Ecken 12">
            <a:extLst>
              <a:ext uri="{FF2B5EF4-FFF2-40B4-BE49-F238E27FC236}">
                <a16:creationId xmlns:a16="http://schemas.microsoft.com/office/drawing/2014/main" id="{5DD2A0D4-A9B3-478F-B4A6-06F0D4D7BE0E}"/>
              </a:ext>
            </a:extLst>
          </p:cNvPr>
          <p:cNvSpPr>
            <a:spLocks noGrp="1"/>
          </p:cNvSpPr>
          <p:nvPr/>
        </p:nvSpPr>
        <p:spPr>
          <a:xfrm>
            <a:off x="4305300" y="2057400"/>
            <a:ext cx="2971800" cy="3181350"/>
          </a:xfrm>
          <a:prstGeom prst="roundRect">
            <a:avLst>
              <a:gd name="adj" fmla="val 5769"/>
            </a:avLst>
          </a:prstGeom>
          <a:solidFill>
            <a:srgbClr val="CCECE8"/>
          </a:solidFill>
          <a:ln w="0">
            <a:noFill/>
            <a:prstDash val="solid"/>
          </a:ln>
        </p:spPr>
      </p:sp>
      <p:sp>
        <p:nvSpPr>
          <p:cNvPr id="14" name="Rechteck 13">
            <a:extLst>
              <a:ext uri="{FF2B5EF4-FFF2-40B4-BE49-F238E27FC236}">
                <a16:creationId xmlns:a16="http://schemas.microsoft.com/office/drawing/2014/main" id="{DB99DCF5-07FE-48D1-ABBF-B02EEF835D61}"/>
              </a:ext>
            </a:extLst>
          </p:cNvPr>
          <p:cNvSpPr>
            <a:spLocks noGrp="1"/>
          </p:cNvSpPr>
          <p:nvPr/>
        </p:nvSpPr>
        <p:spPr>
          <a:xfrm>
            <a:off x="45720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PATCHPONY</a:t>
            </a:r>
          </a:p>
        </p:txBody>
      </p:sp>
      <p:sp>
        <p:nvSpPr>
          <p:cNvPr id="15" name="Rechteck 14">
            <a:extLst>
              <a:ext uri="{FF2B5EF4-FFF2-40B4-BE49-F238E27FC236}">
                <a16:creationId xmlns:a16="http://schemas.microsoft.com/office/drawing/2014/main" id="{A548A225-1602-4FBE-863B-E07BBF91B7BD}"/>
              </a:ext>
            </a:extLst>
          </p:cNvPr>
          <p:cNvSpPr>
            <a:spLocks noGrp="1"/>
          </p:cNvSpPr>
          <p:nvPr/>
        </p:nvSpPr>
        <p:spPr>
          <a:xfrm>
            <a:off x="4572000" y="2781300"/>
            <a:ext cx="2438400" cy="55245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Verstehen &amp; pflegen</a:t>
            </a:r>
          </a:p>
        </p:txBody>
      </p:sp>
      <p:sp>
        <p:nvSpPr>
          <p:cNvPr id="16" name="Rechteck 15">
            <a:extLst>
              <a:ext uri="{FF2B5EF4-FFF2-40B4-BE49-F238E27FC236}">
                <a16:creationId xmlns:a16="http://schemas.microsoft.com/office/drawing/2014/main" id="{30C8255B-E6CA-460D-B4B2-D9D91DB1920C}"/>
              </a:ext>
            </a:extLst>
          </p:cNvPr>
          <p:cNvSpPr>
            <a:spLocks noGrp="1"/>
          </p:cNvSpPr>
          <p:nvPr/>
        </p:nvSpPr>
        <p:spPr>
          <a:xfrm>
            <a:off x="4572000" y="3524250"/>
            <a:ext cx="2438400" cy="1409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Suchen &amp; verknüpfen</a:t>
            </a:r>
          </a:p>
          <a:p>
            <a:pPr algn="l">
              <a:defRPr sz="1425" b="0" i="0">
                <a:solidFill>
                  <a:srgbClr val="5D626B"/>
                </a:solidFill>
              </a:defRPr>
            </a:pPr>
            <a:r>
              <a:rPr sz="1425" b="0" i="0">
                <a:solidFill>
                  <a:srgbClr val="5D626B"/>
                </a:solidFill>
              </a:rPr>
              <a:t>Frontmatter prüfen</a:t>
            </a:r>
          </a:p>
          <a:p>
            <a:pPr algn="l">
              <a:defRPr sz="1425" b="0" i="0">
                <a:solidFill>
                  <a:srgbClr val="5D626B"/>
                </a:solidFill>
              </a:defRPr>
            </a:pPr>
            <a:r>
              <a:rPr sz="1425" b="0" i="0">
                <a:solidFill>
                  <a:srgbClr val="5D626B"/>
                </a:solidFill>
              </a:rPr>
              <a:t>Links validieren</a:t>
            </a:r>
          </a:p>
          <a:p>
            <a:pPr algn="l">
              <a:defRPr sz="1425" b="0" i="0">
                <a:solidFill>
                  <a:srgbClr val="5D626B"/>
                </a:solidFill>
              </a:defRPr>
            </a:pPr>
            <a:r>
              <a:rPr sz="1425" b="0" i="0">
                <a:solidFill>
                  <a:srgbClr val="5D626B"/>
                </a:solidFill>
              </a:rPr>
              <a:t>Diff erzeugen</a:t>
            </a:r>
          </a:p>
        </p:txBody>
      </p:sp>
      <p:sp>
        <p:nvSpPr>
          <p:cNvPr id="17" name="Rechteck: abgerundete Ecken 16">
            <a:extLst>
              <a:ext uri="{FF2B5EF4-FFF2-40B4-BE49-F238E27FC236}">
                <a16:creationId xmlns:a16="http://schemas.microsoft.com/office/drawing/2014/main" id="{73B5074C-E799-46D7-8788-5A8770EE5D32}"/>
              </a:ext>
            </a:extLst>
          </p:cNvPr>
          <p:cNvSpPr>
            <a:spLocks noGrp="1"/>
          </p:cNvSpPr>
          <p:nvPr/>
        </p:nvSpPr>
        <p:spPr>
          <a:xfrm>
            <a:off x="8610600" y="2057400"/>
            <a:ext cx="2971800" cy="3181350"/>
          </a:xfrm>
          <a:prstGeom prst="roundRect">
            <a:avLst>
              <a:gd name="adj" fmla="val 5769"/>
            </a:avLst>
          </a:prstGeom>
          <a:solidFill>
            <a:srgbClr val="F6F6F4"/>
          </a:solidFill>
          <a:ln w="0">
            <a:noFill/>
            <a:prstDash val="solid"/>
          </a:ln>
        </p:spPr>
      </p:sp>
      <p:sp>
        <p:nvSpPr>
          <p:cNvPr id="18" name="Rechteck 17">
            <a:extLst>
              <a:ext uri="{FF2B5EF4-FFF2-40B4-BE49-F238E27FC236}">
                <a16:creationId xmlns:a16="http://schemas.microsoft.com/office/drawing/2014/main" id="{88AB1776-E93B-414F-9E9B-1A0FD3C53D33}"/>
              </a:ext>
            </a:extLst>
          </p:cNvPr>
          <p:cNvSpPr>
            <a:spLocks noGrp="1"/>
          </p:cNvSpPr>
          <p:nvPr/>
        </p:nvSpPr>
        <p:spPr>
          <a:xfrm>
            <a:off x="8877300" y="2343150"/>
            <a:ext cx="2438400" cy="22860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ERGEBNIS</a:t>
            </a:r>
          </a:p>
        </p:txBody>
      </p:sp>
      <p:sp>
        <p:nvSpPr>
          <p:cNvPr id="19" name="Rechteck 18">
            <a:extLst>
              <a:ext uri="{FF2B5EF4-FFF2-40B4-BE49-F238E27FC236}">
                <a16:creationId xmlns:a16="http://schemas.microsoft.com/office/drawing/2014/main" id="{420A8B15-DF3B-4868-83E4-A9156F3474E8}"/>
              </a:ext>
            </a:extLst>
          </p:cNvPr>
          <p:cNvSpPr>
            <a:spLocks noGrp="1"/>
          </p:cNvSpPr>
          <p:nvPr/>
        </p:nvSpPr>
        <p:spPr>
          <a:xfrm>
            <a:off x="8877300" y="2781300"/>
            <a:ext cx="2438400" cy="55245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Wissen im Fluss</a:t>
            </a:r>
          </a:p>
        </p:txBody>
      </p:sp>
      <p:sp>
        <p:nvSpPr>
          <p:cNvPr id="20" name="Rechteck 19">
            <a:extLst>
              <a:ext uri="{FF2B5EF4-FFF2-40B4-BE49-F238E27FC236}">
                <a16:creationId xmlns:a16="http://schemas.microsoft.com/office/drawing/2014/main" id="{F028D462-8C32-4056-9E5F-0A4F47A14931}"/>
              </a:ext>
            </a:extLst>
          </p:cNvPr>
          <p:cNvSpPr>
            <a:spLocks noGrp="1"/>
          </p:cNvSpPr>
          <p:nvPr/>
        </p:nvSpPr>
        <p:spPr>
          <a:xfrm>
            <a:off x="8877300" y="3524250"/>
            <a:ext cx="2438400" cy="1409700"/>
          </a:xfrm>
          <a:prstGeom prst="rect">
            <a:avLst/>
          </a:prstGeom>
          <a:noFill/>
          <a:ln w="0">
            <a:noFill/>
            <a:prstDash val="solid"/>
          </a:ln>
        </p:spPr>
        <p:txBody>
          <a:bodyPr wrap="square" lIns="0" tIns="0" rIns="0" bIns="0" anchor="t">
            <a:normAutofit/>
          </a:bodyPr>
          <a:lstStyle/>
          <a:p>
            <a:pPr algn="l">
              <a:defRPr sz="1425" b="0" i="0">
                <a:solidFill>
                  <a:srgbClr val="5D626B"/>
                </a:solidFill>
              </a:defRPr>
            </a:pPr>
            <a:r>
              <a:rPr sz="1425" b="0" i="0">
                <a:solidFill>
                  <a:srgbClr val="5D626B"/>
                </a:solidFill>
              </a:rPr>
              <a:t>Antwort mit Quelle</a:t>
            </a:r>
          </a:p>
          <a:p>
            <a:pPr algn="l">
              <a:defRPr sz="1425" b="0" i="0">
                <a:solidFill>
                  <a:srgbClr val="5D626B"/>
                </a:solidFill>
              </a:defRPr>
            </a:pPr>
            <a:r>
              <a:rPr sz="1425" b="0" i="0">
                <a:solidFill>
                  <a:srgbClr val="5D626B"/>
                </a:solidFill>
              </a:rPr>
              <a:t>Wissenslücke</a:t>
            </a:r>
          </a:p>
          <a:p>
            <a:pPr algn="l">
              <a:defRPr sz="1425" b="0" i="0">
                <a:solidFill>
                  <a:srgbClr val="5D626B"/>
                </a:solidFill>
              </a:defRPr>
            </a:pPr>
            <a:r>
              <a:rPr sz="1425" b="0" i="0">
                <a:solidFill>
                  <a:srgbClr val="5D626B"/>
                </a:solidFill>
              </a:rPr>
              <a:t>Bot-Branch</a:t>
            </a:r>
          </a:p>
          <a:p>
            <a:pPr algn="l">
              <a:defRPr sz="1425" b="0" i="0">
                <a:solidFill>
                  <a:srgbClr val="5D626B"/>
                </a:solidFill>
              </a:defRPr>
            </a:pPr>
            <a:r>
              <a:rPr sz="1425" b="0" i="0">
                <a:solidFill>
                  <a:srgbClr val="5D626B"/>
                </a:solidFill>
              </a:rPr>
              <a:t>Merge Request</a:t>
            </a:r>
          </a:p>
        </p:txBody>
      </p:sp>
      <p:sp>
        <p:nvSpPr>
          <p:cNvPr id="21" name="Rechteck 20">
            <a:extLst>
              <a:ext uri="{FF2B5EF4-FFF2-40B4-BE49-F238E27FC236}">
                <a16:creationId xmlns:a16="http://schemas.microsoft.com/office/drawing/2014/main" id="{0B212788-AC61-463C-80B7-C0DE82949524}"/>
              </a:ext>
            </a:extLst>
          </p:cNvPr>
          <p:cNvSpPr>
            <a:spLocks noGrp="1"/>
          </p:cNvSpPr>
          <p:nvPr/>
        </p:nvSpPr>
        <p:spPr>
          <a:xfrm>
            <a:off x="609600" y="5657850"/>
            <a:ext cx="10972800" cy="438150"/>
          </a:xfrm>
          <a:prstGeom prst="rect">
            <a:avLst/>
          </a:prstGeom>
          <a:noFill/>
          <a:ln w="0">
            <a:noFill/>
            <a:prstDash val="solid"/>
          </a:ln>
        </p:spPr>
        <p:txBody>
          <a:bodyPr wrap="square" lIns="0" tIns="0" rIns="0" bIns="0" anchor="t">
            <a:normAutofit/>
          </a:bodyPr>
          <a:lstStyle/>
          <a:p>
            <a:pPr algn="ctr">
              <a:defRPr sz="1650" b="1" i="0">
                <a:solidFill>
                  <a:srgbClr val="06443D"/>
                </a:solidFill>
              </a:defRPr>
            </a:pPr>
            <a:r>
              <a:rPr sz="1650" b="1" i="0">
                <a:solidFill>
                  <a:srgbClr val="06443D"/>
                </a:solidFill>
              </a:rPr>
              <a:t>Git bleibt die Quelle der Wahrheit. Menschen behalten Ownership und Review.</a:t>
            </a:r>
          </a:p>
        </p:txBody>
      </p:sp>
    </p:spTree>
    <p:extLst>
      <p:ext uri="{BB962C8B-B14F-4D97-AF65-F5344CB8AC3E}">
        <p14:creationId xmlns:p14="http://schemas.microsoft.com/office/powerpoint/2010/main" val="1748278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hteck 30">
            <a:extLst>
              <a:ext uri="{FF2B5EF4-FFF2-40B4-BE49-F238E27FC236}">
                <a16:creationId xmlns:a16="http://schemas.microsoft.com/office/drawing/2014/main" id="{855EF454-D68B-4E16-8451-DA0D30C8BCB2}"/>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SO FUNKTIONIERT ES</a:t>
            </a:r>
          </a:p>
        </p:txBody>
      </p:sp>
      <p:sp>
        <p:nvSpPr>
          <p:cNvPr id="2" name="Rechteck 1">
            <a:extLst>
              <a:ext uri="{FF2B5EF4-FFF2-40B4-BE49-F238E27FC236}">
                <a16:creationId xmlns:a16="http://schemas.microsoft.com/office/drawing/2014/main" id="{C5B22A6A-AA9A-49CE-B9D7-93CA3FF4BF30}"/>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000" b="1" i="0">
                <a:solidFill>
                  <a:srgbClr val="000020"/>
                </a:solidFill>
              </a:defRPr>
            </a:pPr>
            <a:r>
              <a:rPr sz="3000" b="1" i="0">
                <a:solidFill>
                  <a:srgbClr val="000020"/>
                </a:solidFill>
              </a:rPr>
              <a:t>Von der Frage bis zur Review bleibt jeder Schritt nachvollziehbar.</a:t>
            </a:r>
          </a:p>
        </p:txBody>
      </p:sp>
      <p:sp>
        <p:nvSpPr>
          <p:cNvPr id="3" name="Rechteck 2">
            <a:extLst>
              <a:ext uri="{FF2B5EF4-FFF2-40B4-BE49-F238E27FC236}">
                <a16:creationId xmlns:a16="http://schemas.microsoft.com/office/drawing/2014/main" id="{3281CF8A-A756-47CF-ADBA-AD80A5C587D0}"/>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C2C995C7-6295-4835-A423-65EABBD21755}"/>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06</a:t>
            </a:r>
          </a:p>
        </p:txBody>
      </p:sp>
      <p:sp>
        <p:nvSpPr>
          <p:cNvPr id="5" name="Rechteck 4">
            <a:extLst>
              <a:ext uri="{FF2B5EF4-FFF2-40B4-BE49-F238E27FC236}">
                <a16:creationId xmlns:a16="http://schemas.microsoft.com/office/drawing/2014/main" id="{1D4D7B0F-F0DB-4D24-B877-6E6BAB02D03A}"/>
              </a:ext>
            </a:extLst>
          </p:cNvPr>
          <p:cNvSpPr>
            <a:spLocks noGrp="1"/>
          </p:cNvSpPr>
          <p:nvPr/>
        </p:nvSpPr>
        <p:spPr>
          <a:xfrm>
            <a:off x="2362200" y="3067050"/>
            <a:ext cx="53340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6" name="Rechteck 5">
            <a:extLst>
              <a:ext uri="{FF2B5EF4-FFF2-40B4-BE49-F238E27FC236}">
                <a16:creationId xmlns:a16="http://schemas.microsoft.com/office/drawing/2014/main" id="{DBFF1352-BB9D-4F48-9876-CD5EACF51F76}"/>
              </a:ext>
            </a:extLst>
          </p:cNvPr>
          <p:cNvSpPr>
            <a:spLocks noGrp="1"/>
          </p:cNvSpPr>
          <p:nvPr/>
        </p:nvSpPr>
        <p:spPr>
          <a:xfrm>
            <a:off x="4648200" y="3067050"/>
            <a:ext cx="53340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7" name="Rechteck 6">
            <a:extLst>
              <a:ext uri="{FF2B5EF4-FFF2-40B4-BE49-F238E27FC236}">
                <a16:creationId xmlns:a16="http://schemas.microsoft.com/office/drawing/2014/main" id="{6C21F07E-3C6B-4B49-B3D9-F79D9F6D7D01}"/>
              </a:ext>
            </a:extLst>
          </p:cNvPr>
          <p:cNvSpPr>
            <a:spLocks noGrp="1"/>
          </p:cNvSpPr>
          <p:nvPr/>
        </p:nvSpPr>
        <p:spPr>
          <a:xfrm>
            <a:off x="6934200" y="3067050"/>
            <a:ext cx="53340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8" name="Rechteck 7">
            <a:extLst>
              <a:ext uri="{FF2B5EF4-FFF2-40B4-BE49-F238E27FC236}">
                <a16:creationId xmlns:a16="http://schemas.microsoft.com/office/drawing/2014/main" id="{ABD56677-D6A4-49CD-BCFC-12EEC5436BE1}"/>
              </a:ext>
            </a:extLst>
          </p:cNvPr>
          <p:cNvSpPr>
            <a:spLocks noGrp="1"/>
          </p:cNvSpPr>
          <p:nvPr/>
        </p:nvSpPr>
        <p:spPr>
          <a:xfrm>
            <a:off x="9220200" y="3067050"/>
            <a:ext cx="533400" cy="533400"/>
          </a:xfrm>
          <a:prstGeom prst="rect">
            <a:avLst/>
          </a:prstGeom>
          <a:noFill/>
          <a:ln w="0">
            <a:noFill/>
            <a:prstDash val="solid"/>
          </a:ln>
        </p:spPr>
        <p:txBody>
          <a:bodyPr wrap="square" lIns="0" tIns="0" rIns="0" bIns="0" anchor="t">
            <a:normAutofit/>
          </a:bodyPr>
          <a:lstStyle/>
          <a:p>
            <a:pPr algn="ctr">
              <a:defRPr sz="2850" b="1" i="0">
                <a:solidFill>
                  <a:srgbClr val="0A6156"/>
                </a:solidFill>
              </a:defRPr>
            </a:pPr>
            <a:r>
              <a:rPr sz="2850" b="1" i="0">
                <a:solidFill>
                  <a:srgbClr val="0A6156"/>
                </a:solidFill>
              </a:rPr>
              <a:t>→</a:t>
            </a:r>
          </a:p>
        </p:txBody>
      </p:sp>
      <p:sp>
        <p:nvSpPr>
          <p:cNvPr id="9" name="Rechteck: abgerundete Ecken 8">
            <a:extLst>
              <a:ext uri="{FF2B5EF4-FFF2-40B4-BE49-F238E27FC236}">
                <a16:creationId xmlns:a16="http://schemas.microsoft.com/office/drawing/2014/main" id="{FAD38076-D61E-46EE-9A40-AE5CFCC9C04E}"/>
              </a:ext>
            </a:extLst>
          </p:cNvPr>
          <p:cNvSpPr>
            <a:spLocks noGrp="1"/>
          </p:cNvSpPr>
          <p:nvPr/>
        </p:nvSpPr>
        <p:spPr>
          <a:xfrm>
            <a:off x="609600" y="2381250"/>
            <a:ext cx="1752600" cy="2190750"/>
          </a:xfrm>
          <a:prstGeom prst="roundRect">
            <a:avLst>
              <a:gd name="adj" fmla="val 8696"/>
            </a:avLst>
          </a:prstGeom>
          <a:solidFill>
            <a:srgbClr val="F6F6F4"/>
          </a:solidFill>
          <a:ln w="0">
            <a:noFill/>
            <a:prstDash val="solid"/>
          </a:ln>
        </p:spPr>
      </p:sp>
      <p:sp>
        <p:nvSpPr>
          <p:cNvPr id="10" name="Rechteck 9">
            <a:extLst>
              <a:ext uri="{FF2B5EF4-FFF2-40B4-BE49-F238E27FC236}">
                <a16:creationId xmlns:a16="http://schemas.microsoft.com/office/drawing/2014/main" id="{52EBBABA-24BB-404A-9E10-67791DE8158E}"/>
              </a:ext>
            </a:extLst>
          </p:cNvPr>
          <p:cNvSpPr>
            <a:spLocks noGrp="1"/>
          </p:cNvSpPr>
          <p:nvPr/>
        </p:nvSpPr>
        <p:spPr>
          <a:xfrm>
            <a:off x="781050" y="2571750"/>
            <a:ext cx="1409700" cy="323850"/>
          </a:xfrm>
          <a:prstGeom prst="rect">
            <a:avLst/>
          </a:prstGeom>
          <a:noFill/>
          <a:ln w="0">
            <a:noFill/>
            <a:prstDash val="solid"/>
          </a:ln>
        </p:spPr>
        <p:txBody>
          <a:bodyPr wrap="square" lIns="0" tIns="0" rIns="0" bIns="0" anchor="t">
            <a:normAutofit/>
          </a:bodyPr>
          <a:lstStyle/>
          <a:p>
            <a:pPr algn="l">
              <a:defRPr sz="1500" b="1" i="0">
                <a:solidFill>
                  <a:srgbClr val="93C01C"/>
                </a:solidFill>
              </a:defRPr>
            </a:pPr>
            <a:r>
              <a:rPr sz="1500" b="1" i="0">
                <a:solidFill>
                  <a:srgbClr val="93C01C"/>
                </a:solidFill>
              </a:rPr>
              <a:t>01</a:t>
            </a:r>
          </a:p>
        </p:txBody>
      </p:sp>
      <p:sp>
        <p:nvSpPr>
          <p:cNvPr id="11" name="Rechteck 10">
            <a:extLst>
              <a:ext uri="{FF2B5EF4-FFF2-40B4-BE49-F238E27FC236}">
                <a16:creationId xmlns:a16="http://schemas.microsoft.com/office/drawing/2014/main" id="{2DD9156F-9861-4674-AA5F-262C0A12E281}"/>
              </a:ext>
            </a:extLst>
          </p:cNvPr>
          <p:cNvSpPr>
            <a:spLocks noGrp="1"/>
          </p:cNvSpPr>
          <p:nvPr/>
        </p:nvSpPr>
        <p:spPr>
          <a:xfrm>
            <a:off x="781050" y="3105150"/>
            <a:ext cx="1409700" cy="666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Zoho / Open WebUI</a:t>
            </a:r>
          </a:p>
        </p:txBody>
      </p:sp>
      <p:sp>
        <p:nvSpPr>
          <p:cNvPr id="12" name="Rechteck 11">
            <a:extLst>
              <a:ext uri="{FF2B5EF4-FFF2-40B4-BE49-F238E27FC236}">
                <a16:creationId xmlns:a16="http://schemas.microsoft.com/office/drawing/2014/main" id="{FD468F26-ABE3-47EA-9901-1CB67429D401}"/>
              </a:ext>
            </a:extLst>
          </p:cNvPr>
          <p:cNvSpPr>
            <a:spLocks noGrp="1"/>
          </p:cNvSpPr>
          <p:nvPr/>
        </p:nvSpPr>
        <p:spPr>
          <a:xfrm>
            <a:off x="781050" y="3905250"/>
            <a:ext cx="1409700" cy="400050"/>
          </a:xfrm>
          <a:prstGeom prst="rect">
            <a:avLst/>
          </a:prstGeom>
          <a:noFill/>
          <a:ln w="0">
            <a:noFill/>
            <a:prstDash val="solid"/>
          </a:ln>
        </p:spPr>
        <p:txBody>
          <a:bodyPr wrap="square" lIns="0" tIns="0" rIns="0" bIns="0" anchor="t">
            <a:normAutofit/>
          </a:bodyPr>
          <a:lstStyle/>
          <a:p>
            <a:pPr algn="ctr">
              <a:defRPr sz="1200" b="0" i="0">
                <a:solidFill>
                  <a:srgbClr val="5D626B"/>
                </a:solidFill>
              </a:defRPr>
            </a:pPr>
            <a:r>
              <a:rPr sz="1200" b="0" i="0">
                <a:solidFill>
                  <a:srgbClr val="5D626B"/>
                </a:solidFill>
              </a:rPr>
              <a:t>Ticket, Frage, Pflegeauftrag</a:t>
            </a:r>
          </a:p>
        </p:txBody>
      </p:sp>
      <p:sp>
        <p:nvSpPr>
          <p:cNvPr id="13" name="Rechteck: abgerundete Ecken 12">
            <a:extLst>
              <a:ext uri="{FF2B5EF4-FFF2-40B4-BE49-F238E27FC236}">
                <a16:creationId xmlns:a16="http://schemas.microsoft.com/office/drawing/2014/main" id="{04E6F35F-81DF-4D40-96EE-87844778DA67}"/>
              </a:ext>
            </a:extLst>
          </p:cNvPr>
          <p:cNvSpPr>
            <a:spLocks noGrp="1"/>
          </p:cNvSpPr>
          <p:nvPr/>
        </p:nvSpPr>
        <p:spPr>
          <a:xfrm>
            <a:off x="2895600" y="2381250"/>
            <a:ext cx="1752600" cy="2190750"/>
          </a:xfrm>
          <a:prstGeom prst="roundRect">
            <a:avLst>
              <a:gd name="adj" fmla="val 8696"/>
            </a:avLst>
          </a:prstGeom>
          <a:solidFill>
            <a:srgbClr val="F6F6F4"/>
          </a:solidFill>
          <a:ln w="0">
            <a:noFill/>
            <a:prstDash val="solid"/>
          </a:ln>
        </p:spPr>
      </p:sp>
      <p:sp>
        <p:nvSpPr>
          <p:cNvPr id="14" name="Rechteck 13">
            <a:extLst>
              <a:ext uri="{FF2B5EF4-FFF2-40B4-BE49-F238E27FC236}">
                <a16:creationId xmlns:a16="http://schemas.microsoft.com/office/drawing/2014/main" id="{A8B053E1-8338-4694-806F-487B82ECC19E}"/>
              </a:ext>
            </a:extLst>
          </p:cNvPr>
          <p:cNvSpPr>
            <a:spLocks noGrp="1"/>
          </p:cNvSpPr>
          <p:nvPr/>
        </p:nvSpPr>
        <p:spPr>
          <a:xfrm>
            <a:off x="3067050" y="2571750"/>
            <a:ext cx="1409700" cy="323850"/>
          </a:xfrm>
          <a:prstGeom prst="rect">
            <a:avLst/>
          </a:prstGeom>
          <a:noFill/>
          <a:ln w="0">
            <a:noFill/>
            <a:prstDash val="solid"/>
          </a:ln>
        </p:spPr>
        <p:txBody>
          <a:bodyPr wrap="square" lIns="0" tIns="0" rIns="0" bIns="0" anchor="t">
            <a:normAutofit/>
          </a:bodyPr>
          <a:lstStyle/>
          <a:p>
            <a:pPr algn="l">
              <a:defRPr sz="1500" b="1" i="0">
                <a:solidFill>
                  <a:srgbClr val="93C01C"/>
                </a:solidFill>
              </a:defRPr>
            </a:pPr>
            <a:r>
              <a:rPr sz="1500" b="1" i="0">
                <a:solidFill>
                  <a:srgbClr val="93C01C"/>
                </a:solidFill>
              </a:rPr>
              <a:t>02</a:t>
            </a:r>
          </a:p>
        </p:txBody>
      </p:sp>
      <p:sp>
        <p:nvSpPr>
          <p:cNvPr id="15" name="Rechteck 14">
            <a:extLst>
              <a:ext uri="{FF2B5EF4-FFF2-40B4-BE49-F238E27FC236}">
                <a16:creationId xmlns:a16="http://schemas.microsoft.com/office/drawing/2014/main" id="{81826E05-4A5F-458D-922A-45CF4F5C0907}"/>
              </a:ext>
            </a:extLst>
          </p:cNvPr>
          <p:cNvSpPr>
            <a:spLocks noGrp="1"/>
          </p:cNvSpPr>
          <p:nvPr/>
        </p:nvSpPr>
        <p:spPr>
          <a:xfrm>
            <a:off x="3067050" y="3105150"/>
            <a:ext cx="1409700" cy="666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n8n</a:t>
            </a:r>
          </a:p>
        </p:txBody>
      </p:sp>
      <p:sp>
        <p:nvSpPr>
          <p:cNvPr id="16" name="Rechteck 15">
            <a:extLst>
              <a:ext uri="{FF2B5EF4-FFF2-40B4-BE49-F238E27FC236}">
                <a16:creationId xmlns:a16="http://schemas.microsoft.com/office/drawing/2014/main" id="{8ABCF5E3-372E-4AD3-997A-16D956FC8822}"/>
              </a:ext>
            </a:extLst>
          </p:cNvPr>
          <p:cNvSpPr>
            <a:spLocks noGrp="1"/>
          </p:cNvSpPr>
          <p:nvPr/>
        </p:nvSpPr>
        <p:spPr>
          <a:xfrm>
            <a:off x="3067050" y="3905250"/>
            <a:ext cx="1409700" cy="400050"/>
          </a:xfrm>
          <a:prstGeom prst="rect">
            <a:avLst/>
          </a:prstGeom>
          <a:noFill/>
          <a:ln w="0">
            <a:noFill/>
            <a:prstDash val="solid"/>
          </a:ln>
        </p:spPr>
        <p:txBody>
          <a:bodyPr wrap="square" lIns="0" tIns="0" rIns="0" bIns="0" anchor="t">
            <a:normAutofit/>
          </a:bodyPr>
          <a:lstStyle/>
          <a:p>
            <a:pPr algn="ctr">
              <a:defRPr sz="1200" b="0" i="0">
                <a:solidFill>
                  <a:srgbClr val="5D626B"/>
                </a:solidFill>
              </a:defRPr>
            </a:pPr>
            <a:r>
              <a:rPr sz="1200" b="0" i="0">
                <a:solidFill>
                  <a:srgbClr val="5D626B"/>
                </a:solidFill>
              </a:rPr>
              <a:t>Workflow &amp; Modell</a:t>
            </a:r>
          </a:p>
        </p:txBody>
      </p:sp>
      <p:sp>
        <p:nvSpPr>
          <p:cNvPr id="17" name="Rechteck: abgerundete Ecken 16">
            <a:extLst>
              <a:ext uri="{FF2B5EF4-FFF2-40B4-BE49-F238E27FC236}">
                <a16:creationId xmlns:a16="http://schemas.microsoft.com/office/drawing/2014/main" id="{7216FA86-0326-4B0A-847C-0AEDF15033CE}"/>
              </a:ext>
            </a:extLst>
          </p:cNvPr>
          <p:cNvSpPr>
            <a:spLocks noGrp="1"/>
          </p:cNvSpPr>
          <p:nvPr/>
        </p:nvSpPr>
        <p:spPr>
          <a:xfrm>
            <a:off x="5181600" y="2381250"/>
            <a:ext cx="1752600" cy="2190750"/>
          </a:xfrm>
          <a:prstGeom prst="roundRect">
            <a:avLst>
              <a:gd name="adj" fmla="val 8696"/>
            </a:avLst>
          </a:prstGeom>
          <a:solidFill>
            <a:srgbClr val="CCECE8"/>
          </a:solidFill>
          <a:ln w="0">
            <a:noFill/>
            <a:prstDash val="solid"/>
          </a:ln>
        </p:spPr>
      </p:sp>
      <p:sp>
        <p:nvSpPr>
          <p:cNvPr id="18" name="Rechteck 17">
            <a:extLst>
              <a:ext uri="{FF2B5EF4-FFF2-40B4-BE49-F238E27FC236}">
                <a16:creationId xmlns:a16="http://schemas.microsoft.com/office/drawing/2014/main" id="{8CAAEDA5-8825-4730-953F-5CADAF64A55E}"/>
              </a:ext>
            </a:extLst>
          </p:cNvPr>
          <p:cNvSpPr>
            <a:spLocks noGrp="1"/>
          </p:cNvSpPr>
          <p:nvPr/>
        </p:nvSpPr>
        <p:spPr>
          <a:xfrm>
            <a:off x="5353050" y="2571750"/>
            <a:ext cx="1409700" cy="323850"/>
          </a:xfrm>
          <a:prstGeom prst="rect">
            <a:avLst/>
          </a:prstGeom>
          <a:noFill/>
          <a:ln w="0">
            <a:noFill/>
            <a:prstDash val="solid"/>
          </a:ln>
        </p:spPr>
        <p:txBody>
          <a:bodyPr wrap="square" lIns="0" tIns="0" rIns="0" bIns="0" anchor="t">
            <a:normAutofit/>
          </a:bodyPr>
          <a:lstStyle/>
          <a:p>
            <a:pPr algn="l">
              <a:defRPr sz="1500" b="1" i="0">
                <a:solidFill>
                  <a:srgbClr val="0A6156"/>
                </a:solidFill>
              </a:defRPr>
            </a:pPr>
            <a:r>
              <a:rPr sz="1500" b="1" i="0">
                <a:solidFill>
                  <a:srgbClr val="0A6156"/>
                </a:solidFill>
              </a:rPr>
              <a:t>03</a:t>
            </a:r>
          </a:p>
        </p:txBody>
      </p:sp>
      <p:sp>
        <p:nvSpPr>
          <p:cNvPr id="19" name="Rechteck 18">
            <a:extLst>
              <a:ext uri="{FF2B5EF4-FFF2-40B4-BE49-F238E27FC236}">
                <a16:creationId xmlns:a16="http://schemas.microsoft.com/office/drawing/2014/main" id="{883E7C3A-0002-4D77-8BE2-CB7E45405CFA}"/>
              </a:ext>
            </a:extLst>
          </p:cNvPr>
          <p:cNvSpPr>
            <a:spLocks noGrp="1"/>
          </p:cNvSpPr>
          <p:nvPr/>
        </p:nvSpPr>
        <p:spPr>
          <a:xfrm>
            <a:off x="5353050" y="3105150"/>
            <a:ext cx="1409700" cy="666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PatchPony</a:t>
            </a:r>
          </a:p>
        </p:txBody>
      </p:sp>
      <p:sp>
        <p:nvSpPr>
          <p:cNvPr id="20" name="Rechteck 19">
            <a:extLst>
              <a:ext uri="{FF2B5EF4-FFF2-40B4-BE49-F238E27FC236}">
                <a16:creationId xmlns:a16="http://schemas.microsoft.com/office/drawing/2014/main" id="{AE3D7CAE-6753-41A3-B5A4-24EB6327220F}"/>
              </a:ext>
            </a:extLst>
          </p:cNvPr>
          <p:cNvSpPr>
            <a:spLocks noGrp="1"/>
          </p:cNvSpPr>
          <p:nvPr/>
        </p:nvSpPr>
        <p:spPr>
          <a:xfrm>
            <a:off x="5353050" y="3905250"/>
            <a:ext cx="1409700" cy="400050"/>
          </a:xfrm>
          <a:prstGeom prst="rect">
            <a:avLst/>
          </a:prstGeom>
          <a:noFill/>
          <a:ln w="0">
            <a:noFill/>
            <a:prstDash val="solid"/>
          </a:ln>
        </p:spPr>
        <p:txBody>
          <a:bodyPr wrap="square" lIns="0" tIns="0" rIns="0" bIns="0" anchor="t">
            <a:normAutofit/>
          </a:bodyPr>
          <a:lstStyle/>
          <a:p>
            <a:pPr algn="ctr">
              <a:defRPr sz="1200" b="0" i="0">
                <a:solidFill>
                  <a:srgbClr val="5D626B"/>
                </a:solidFill>
              </a:defRPr>
            </a:pPr>
            <a:r>
              <a:rPr sz="1200" b="0" i="0">
                <a:solidFill>
                  <a:srgbClr val="5D626B"/>
                </a:solidFill>
              </a:rPr>
              <a:t>Code, Config &amp; Vault</a:t>
            </a:r>
          </a:p>
        </p:txBody>
      </p:sp>
      <p:sp>
        <p:nvSpPr>
          <p:cNvPr id="21" name="Rechteck: abgerundete Ecken 20">
            <a:extLst>
              <a:ext uri="{FF2B5EF4-FFF2-40B4-BE49-F238E27FC236}">
                <a16:creationId xmlns:a16="http://schemas.microsoft.com/office/drawing/2014/main" id="{1E863BF0-49F7-4D55-8969-8374CFBEBF30}"/>
              </a:ext>
            </a:extLst>
          </p:cNvPr>
          <p:cNvSpPr>
            <a:spLocks noGrp="1"/>
          </p:cNvSpPr>
          <p:nvPr/>
        </p:nvSpPr>
        <p:spPr>
          <a:xfrm>
            <a:off x="7467600" y="2381250"/>
            <a:ext cx="1752600" cy="2190750"/>
          </a:xfrm>
          <a:prstGeom prst="roundRect">
            <a:avLst>
              <a:gd name="adj" fmla="val 8696"/>
            </a:avLst>
          </a:prstGeom>
          <a:solidFill>
            <a:srgbClr val="F6F6F4"/>
          </a:solidFill>
          <a:ln w="0">
            <a:noFill/>
            <a:prstDash val="solid"/>
          </a:ln>
        </p:spPr>
      </p:sp>
      <p:sp>
        <p:nvSpPr>
          <p:cNvPr id="22" name="Rechteck 21">
            <a:extLst>
              <a:ext uri="{FF2B5EF4-FFF2-40B4-BE49-F238E27FC236}">
                <a16:creationId xmlns:a16="http://schemas.microsoft.com/office/drawing/2014/main" id="{355B2B18-3188-4889-A59B-A4F3A4E5E7CC}"/>
              </a:ext>
            </a:extLst>
          </p:cNvPr>
          <p:cNvSpPr>
            <a:spLocks noGrp="1"/>
          </p:cNvSpPr>
          <p:nvPr/>
        </p:nvSpPr>
        <p:spPr>
          <a:xfrm>
            <a:off x="7639050" y="2571750"/>
            <a:ext cx="1409700" cy="323850"/>
          </a:xfrm>
          <a:prstGeom prst="rect">
            <a:avLst/>
          </a:prstGeom>
          <a:noFill/>
          <a:ln w="0">
            <a:noFill/>
            <a:prstDash val="solid"/>
          </a:ln>
        </p:spPr>
        <p:txBody>
          <a:bodyPr wrap="square" lIns="0" tIns="0" rIns="0" bIns="0" anchor="t">
            <a:normAutofit/>
          </a:bodyPr>
          <a:lstStyle/>
          <a:p>
            <a:pPr algn="l">
              <a:defRPr sz="1500" b="1" i="0">
                <a:solidFill>
                  <a:srgbClr val="93C01C"/>
                </a:solidFill>
              </a:defRPr>
            </a:pPr>
            <a:r>
              <a:rPr sz="1500" b="1" i="0">
                <a:solidFill>
                  <a:srgbClr val="93C01C"/>
                </a:solidFill>
              </a:rPr>
              <a:t>04</a:t>
            </a:r>
          </a:p>
        </p:txBody>
      </p:sp>
      <p:sp>
        <p:nvSpPr>
          <p:cNvPr id="23" name="Rechteck 22">
            <a:extLst>
              <a:ext uri="{FF2B5EF4-FFF2-40B4-BE49-F238E27FC236}">
                <a16:creationId xmlns:a16="http://schemas.microsoft.com/office/drawing/2014/main" id="{92536809-98B2-4FF6-950F-B22AB0F1B142}"/>
              </a:ext>
            </a:extLst>
          </p:cNvPr>
          <p:cNvSpPr>
            <a:spLocks noGrp="1"/>
          </p:cNvSpPr>
          <p:nvPr/>
        </p:nvSpPr>
        <p:spPr>
          <a:xfrm>
            <a:off x="7639050" y="3105150"/>
            <a:ext cx="1409700" cy="666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Sandbox</a:t>
            </a:r>
          </a:p>
        </p:txBody>
      </p:sp>
      <p:sp>
        <p:nvSpPr>
          <p:cNvPr id="24" name="Rechteck 23">
            <a:extLst>
              <a:ext uri="{FF2B5EF4-FFF2-40B4-BE49-F238E27FC236}">
                <a16:creationId xmlns:a16="http://schemas.microsoft.com/office/drawing/2014/main" id="{D9B3DED6-5A2E-4DAE-AC20-BCDCE3845FC2}"/>
              </a:ext>
            </a:extLst>
          </p:cNvPr>
          <p:cNvSpPr>
            <a:spLocks noGrp="1"/>
          </p:cNvSpPr>
          <p:nvPr/>
        </p:nvSpPr>
        <p:spPr>
          <a:xfrm>
            <a:off x="7639050" y="3905250"/>
            <a:ext cx="1409700" cy="400050"/>
          </a:xfrm>
          <a:prstGeom prst="rect">
            <a:avLst/>
          </a:prstGeom>
          <a:noFill/>
          <a:ln w="0">
            <a:noFill/>
            <a:prstDash val="solid"/>
          </a:ln>
        </p:spPr>
        <p:txBody>
          <a:bodyPr wrap="square" lIns="0" tIns="0" rIns="0" bIns="0" anchor="t">
            <a:normAutofit/>
          </a:bodyPr>
          <a:lstStyle/>
          <a:p>
            <a:pPr algn="ctr">
              <a:defRPr sz="1200" b="0" i="0">
                <a:solidFill>
                  <a:srgbClr val="5D626B"/>
                </a:solidFill>
              </a:defRPr>
            </a:pPr>
            <a:r>
              <a:rPr sz="1200" b="0" i="0">
                <a:solidFill>
                  <a:srgbClr val="5D626B"/>
                </a:solidFill>
              </a:rPr>
              <a:t>Session, Diff, Tests</a:t>
            </a:r>
          </a:p>
        </p:txBody>
      </p:sp>
      <p:sp>
        <p:nvSpPr>
          <p:cNvPr id="25" name="Rechteck: abgerundete Ecken 24">
            <a:extLst>
              <a:ext uri="{FF2B5EF4-FFF2-40B4-BE49-F238E27FC236}">
                <a16:creationId xmlns:a16="http://schemas.microsoft.com/office/drawing/2014/main" id="{1CEA5051-421D-4A17-9421-B49FC8DB4B96}"/>
              </a:ext>
            </a:extLst>
          </p:cNvPr>
          <p:cNvSpPr>
            <a:spLocks noGrp="1"/>
          </p:cNvSpPr>
          <p:nvPr/>
        </p:nvSpPr>
        <p:spPr>
          <a:xfrm>
            <a:off x="9753600" y="2381250"/>
            <a:ext cx="1752600" cy="2190750"/>
          </a:xfrm>
          <a:prstGeom prst="roundRect">
            <a:avLst>
              <a:gd name="adj" fmla="val 8696"/>
            </a:avLst>
          </a:prstGeom>
          <a:solidFill>
            <a:srgbClr val="F6F6F4"/>
          </a:solidFill>
          <a:ln w="0">
            <a:noFill/>
            <a:prstDash val="solid"/>
          </a:ln>
        </p:spPr>
      </p:sp>
      <p:sp>
        <p:nvSpPr>
          <p:cNvPr id="26" name="Rechteck 25">
            <a:extLst>
              <a:ext uri="{FF2B5EF4-FFF2-40B4-BE49-F238E27FC236}">
                <a16:creationId xmlns:a16="http://schemas.microsoft.com/office/drawing/2014/main" id="{D5D1C6B7-DF9B-4B04-BCB6-F2D7268C8DF7}"/>
              </a:ext>
            </a:extLst>
          </p:cNvPr>
          <p:cNvSpPr>
            <a:spLocks noGrp="1"/>
          </p:cNvSpPr>
          <p:nvPr/>
        </p:nvSpPr>
        <p:spPr>
          <a:xfrm>
            <a:off x="9925050" y="2571750"/>
            <a:ext cx="1409700" cy="323850"/>
          </a:xfrm>
          <a:prstGeom prst="rect">
            <a:avLst/>
          </a:prstGeom>
          <a:noFill/>
          <a:ln w="0">
            <a:noFill/>
            <a:prstDash val="solid"/>
          </a:ln>
        </p:spPr>
        <p:txBody>
          <a:bodyPr wrap="square" lIns="0" tIns="0" rIns="0" bIns="0" anchor="t">
            <a:normAutofit/>
          </a:bodyPr>
          <a:lstStyle/>
          <a:p>
            <a:pPr algn="l">
              <a:defRPr sz="1500" b="1" i="0">
                <a:solidFill>
                  <a:srgbClr val="93C01C"/>
                </a:solidFill>
              </a:defRPr>
            </a:pPr>
            <a:r>
              <a:rPr sz="1500" b="1" i="0">
                <a:solidFill>
                  <a:srgbClr val="93C01C"/>
                </a:solidFill>
              </a:rPr>
              <a:t>05</a:t>
            </a:r>
          </a:p>
        </p:txBody>
      </p:sp>
      <p:sp>
        <p:nvSpPr>
          <p:cNvPr id="27" name="Rechteck 26">
            <a:extLst>
              <a:ext uri="{FF2B5EF4-FFF2-40B4-BE49-F238E27FC236}">
                <a16:creationId xmlns:a16="http://schemas.microsoft.com/office/drawing/2014/main" id="{8C36B99D-C09C-4E1F-B44F-4FD4AB7B96D1}"/>
              </a:ext>
            </a:extLst>
          </p:cNvPr>
          <p:cNvSpPr>
            <a:spLocks noGrp="1"/>
          </p:cNvSpPr>
          <p:nvPr/>
        </p:nvSpPr>
        <p:spPr>
          <a:xfrm>
            <a:off x="9925050" y="3105150"/>
            <a:ext cx="1409700" cy="666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Merge Request</a:t>
            </a:r>
          </a:p>
        </p:txBody>
      </p:sp>
      <p:sp>
        <p:nvSpPr>
          <p:cNvPr id="28" name="Rechteck 27">
            <a:extLst>
              <a:ext uri="{FF2B5EF4-FFF2-40B4-BE49-F238E27FC236}">
                <a16:creationId xmlns:a16="http://schemas.microsoft.com/office/drawing/2014/main" id="{E6569364-1A23-4E34-8763-5EBF178FA39B}"/>
              </a:ext>
            </a:extLst>
          </p:cNvPr>
          <p:cNvSpPr>
            <a:spLocks noGrp="1"/>
          </p:cNvSpPr>
          <p:nvPr/>
        </p:nvSpPr>
        <p:spPr>
          <a:xfrm>
            <a:off x="9925050" y="3905250"/>
            <a:ext cx="1409700" cy="400050"/>
          </a:xfrm>
          <a:prstGeom prst="rect">
            <a:avLst/>
          </a:prstGeom>
          <a:noFill/>
          <a:ln w="0">
            <a:noFill/>
            <a:prstDash val="solid"/>
          </a:ln>
        </p:spPr>
        <p:txBody>
          <a:bodyPr wrap="square" lIns="0" tIns="0" rIns="0" bIns="0" anchor="t">
            <a:normAutofit/>
          </a:bodyPr>
          <a:lstStyle/>
          <a:p>
            <a:pPr algn="ctr">
              <a:defRPr sz="1200" b="0" i="0">
                <a:solidFill>
                  <a:srgbClr val="5D626B"/>
                </a:solidFill>
              </a:defRPr>
            </a:pPr>
            <a:r>
              <a:rPr sz="1200" b="0" i="0">
                <a:solidFill>
                  <a:srgbClr val="5D626B"/>
                </a:solidFill>
              </a:rPr>
              <a:t>Menschliche Review</a:t>
            </a:r>
          </a:p>
        </p:txBody>
      </p:sp>
      <p:sp>
        <p:nvSpPr>
          <p:cNvPr id="29" name="Rechteck: abgerundete Ecken 28">
            <a:extLst>
              <a:ext uri="{FF2B5EF4-FFF2-40B4-BE49-F238E27FC236}">
                <a16:creationId xmlns:a16="http://schemas.microsoft.com/office/drawing/2014/main" id="{0CA41E2D-CD9B-423E-A634-BE9523BE113F}"/>
              </a:ext>
            </a:extLst>
          </p:cNvPr>
          <p:cNvSpPr>
            <a:spLocks noGrp="1"/>
          </p:cNvSpPr>
          <p:nvPr/>
        </p:nvSpPr>
        <p:spPr>
          <a:xfrm>
            <a:off x="1676400" y="5219700"/>
            <a:ext cx="8839200" cy="647700"/>
          </a:xfrm>
          <a:prstGeom prst="roundRect">
            <a:avLst>
              <a:gd name="adj" fmla="val 20588"/>
            </a:avLst>
          </a:prstGeom>
          <a:solidFill>
            <a:srgbClr val="000020"/>
          </a:solidFill>
          <a:ln w="0">
            <a:noFill/>
            <a:prstDash val="solid"/>
          </a:ln>
        </p:spPr>
      </p:sp>
      <p:sp>
        <p:nvSpPr>
          <p:cNvPr id="30" name="Rechteck 29">
            <a:extLst>
              <a:ext uri="{FF2B5EF4-FFF2-40B4-BE49-F238E27FC236}">
                <a16:creationId xmlns:a16="http://schemas.microsoft.com/office/drawing/2014/main" id="{512192EF-4F2A-489E-B27C-C4AA8F5A9C22}"/>
              </a:ext>
            </a:extLst>
          </p:cNvPr>
          <p:cNvSpPr>
            <a:spLocks noGrp="1"/>
          </p:cNvSpPr>
          <p:nvPr/>
        </p:nvSpPr>
        <p:spPr>
          <a:xfrm>
            <a:off x="1905000" y="5391150"/>
            <a:ext cx="8382000" cy="323850"/>
          </a:xfrm>
          <a:prstGeom prst="rect">
            <a:avLst/>
          </a:prstGeom>
          <a:noFill/>
          <a:ln w="0">
            <a:noFill/>
            <a:prstDash val="solid"/>
          </a:ln>
        </p:spPr>
        <p:txBody>
          <a:bodyPr wrap="square" lIns="0" tIns="0" rIns="0" bIns="0" anchor="t">
            <a:normAutofit/>
          </a:bodyPr>
          <a:lstStyle/>
          <a:p>
            <a:pPr algn="ctr">
              <a:defRPr sz="2025" b="1" i="0">
                <a:solidFill>
                  <a:srgbClr val="FFFFFF"/>
                </a:solidFill>
              </a:defRPr>
            </a:pPr>
            <a:r>
              <a:rPr sz="2025" b="1" i="0">
                <a:solidFill>
                  <a:srgbClr val="FFFFFF"/>
                </a:solidFill>
              </a:rPr>
              <a:t>Der Mensch entscheidet. PatchPony bereitet vor.</a:t>
            </a:r>
          </a:p>
        </p:txBody>
      </p:sp>
    </p:spTree>
    <p:extLst>
      <p:ext uri="{BB962C8B-B14F-4D97-AF65-F5344CB8AC3E}">
        <p14:creationId xmlns:p14="http://schemas.microsoft.com/office/powerpoint/2010/main" val="1485537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932A7345-451B-4291-8630-E4C07747A9F0}"/>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UNSER UNTERSCHIED</a:t>
            </a:r>
          </a:p>
        </p:txBody>
      </p:sp>
      <p:sp>
        <p:nvSpPr>
          <p:cNvPr id="2" name="Rechteck 1">
            <a:extLst>
              <a:ext uri="{FF2B5EF4-FFF2-40B4-BE49-F238E27FC236}">
                <a16:creationId xmlns:a16="http://schemas.microsoft.com/office/drawing/2014/main" id="{C2254457-2D7E-476C-B455-32CFFC3FCCDD}"/>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Sicherheit ist kein Prompt. Sie ist die Architektur.</a:t>
            </a:r>
          </a:p>
        </p:txBody>
      </p:sp>
      <p:sp>
        <p:nvSpPr>
          <p:cNvPr id="3" name="Rechteck 2">
            <a:extLst>
              <a:ext uri="{FF2B5EF4-FFF2-40B4-BE49-F238E27FC236}">
                <a16:creationId xmlns:a16="http://schemas.microsoft.com/office/drawing/2014/main" id="{05955D12-B512-4ED4-A502-54F3096076A1}"/>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2C14F599-1ADC-4453-9B14-D44DBA7ABEB3}"/>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07</a:t>
            </a:r>
          </a:p>
        </p:txBody>
      </p:sp>
      <p:sp>
        <p:nvSpPr>
          <p:cNvPr id="5" name="Rechteck: abgerundete Ecken 4">
            <a:extLst>
              <a:ext uri="{FF2B5EF4-FFF2-40B4-BE49-F238E27FC236}">
                <a16:creationId xmlns:a16="http://schemas.microsoft.com/office/drawing/2014/main" id="{A212E797-C3C6-40E3-845C-A6E20185D77E}"/>
              </a:ext>
            </a:extLst>
          </p:cNvPr>
          <p:cNvSpPr>
            <a:spLocks noGrp="1"/>
          </p:cNvSpPr>
          <p:nvPr/>
        </p:nvSpPr>
        <p:spPr>
          <a:xfrm>
            <a:off x="609600" y="1943100"/>
            <a:ext cx="5372100" cy="1562100"/>
          </a:xfrm>
          <a:prstGeom prst="roundRect">
            <a:avLst>
              <a:gd name="adj" fmla="val 9756"/>
            </a:avLst>
          </a:prstGeom>
          <a:solidFill>
            <a:srgbClr val="CCECE8"/>
          </a:solidFill>
          <a:ln w="0">
            <a:noFill/>
            <a:prstDash val="solid"/>
          </a:ln>
        </p:spPr>
      </p:sp>
      <p:sp>
        <p:nvSpPr>
          <p:cNvPr id="6" name="Rechteck 5">
            <a:extLst>
              <a:ext uri="{FF2B5EF4-FFF2-40B4-BE49-F238E27FC236}">
                <a16:creationId xmlns:a16="http://schemas.microsoft.com/office/drawing/2014/main" id="{C90DA7EF-7DF4-4CA1-AFAF-48F5DE87126D}"/>
              </a:ext>
            </a:extLst>
          </p:cNvPr>
          <p:cNvSpPr>
            <a:spLocks noGrp="1"/>
          </p:cNvSpPr>
          <p:nvPr/>
        </p:nvSpPr>
        <p:spPr>
          <a:xfrm>
            <a:off x="838200" y="2171700"/>
            <a:ext cx="514350" cy="285750"/>
          </a:xfrm>
          <a:prstGeom prst="rect">
            <a:avLst/>
          </a:prstGeom>
          <a:noFill/>
          <a:ln w="0">
            <a:noFill/>
            <a:prstDash val="solid"/>
          </a:ln>
        </p:spPr>
        <p:txBody>
          <a:bodyPr wrap="square" lIns="0" tIns="0" rIns="0" bIns="0" anchor="t">
            <a:normAutofit/>
          </a:bodyPr>
          <a:lstStyle/>
          <a:p>
            <a:pPr algn="l">
              <a:defRPr sz="1350" b="1" i="0">
                <a:solidFill>
                  <a:srgbClr val="0A6156"/>
                </a:solidFill>
              </a:defRPr>
            </a:pPr>
            <a:r>
              <a:rPr sz="1350" b="1" i="0">
                <a:solidFill>
                  <a:srgbClr val="0A6156"/>
                </a:solidFill>
              </a:rPr>
              <a:t>01</a:t>
            </a:r>
          </a:p>
        </p:txBody>
      </p:sp>
      <p:sp>
        <p:nvSpPr>
          <p:cNvPr id="7" name="Rechteck 6">
            <a:extLst>
              <a:ext uri="{FF2B5EF4-FFF2-40B4-BE49-F238E27FC236}">
                <a16:creationId xmlns:a16="http://schemas.microsoft.com/office/drawing/2014/main" id="{369AC445-CC7A-4669-BDE2-967020E624C9}"/>
              </a:ext>
            </a:extLst>
          </p:cNvPr>
          <p:cNvSpPr>
            <a:spLocks noGrp="1"/>
          </p:cNvSpPr>
          <p:nvPr/>
        </p:nvSpPr>
        <p:spPr>
          <a:xfrm>
            <a:off x="1524000" y="2152650"/>
            <a:ext cx="4000500" cy="3810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Isoliert</a:t>
            </a:r>
          </a:p>
        </p:txBody>
      </p:sp>
      <p:sp>
        <p:nvSpPr>
          <p:cNvPr id="8" name="Rechteck 7">
            <a:extLst>
              <a:ext uri="{FF2B5EF4-FFF2-40B4-BE49-F238E27FC236}">
                <a16:creationId xmlns:a16="http://schemas.microsoft.com/office/drawing/2014/main" id="{17040432-F0BF-4430-82C7-ED300F348021}"/>
              </a:ext>
            </a:extLst>
          </p:cNvPr>
          <p:cNvSpPr>
            <a:spLocks noGrp="1"/>
          </p:cNvSpPr>
          <p:nvPr/>
        </p:nvSpPr>
        <p:spPr>
          <a:xfrm>
            <a:off x="1524000" y="2686050"/>
            <a:ext cx="4000500" cy="628650"/>
          </a:xfrm>
          <a:prstGeom prst="rect">
            <a:avLst/>
          </a:prstGeom>
          <a:noFill/>
          <a:ln w="0">
            <a:noFill/>
            <a:prstDash val="solid"/>
          </a:ln>
        </p:spPr>
        <p:txBody>
          <a:bodyPr wrap="square" lIns="0" tIns="0" rIns="0" bIns="0" anchor="t">
            <a:normAutofit/>
          </a:bodyPr>
          <a:lstStyle/>
          <a:p>
            <a:pPr algn="l">
              <a:defRPr sz="1350" b="0" i="0">
                <a:solidFill>
                  <a:srgbClr val="5D626B"/>
                </a:solidFill>
              </a:defRPr>
            </a:pPr>
            <a:r>
              <a:rPr sz="1350" b="0" i="0">
                <a:solidFill>
                  <a:srgbClr val="5D626B"/>
                </a:solidFill>
              </a:rPr>
              <a:t>Jeder Auftrag arbeitet in einer eigenen Session – niemals direkt auf main.</a:t>
            </a:r>
          </a:p>
        </p:txBody>
      </p:sp>
      <p:sp>
        <p:nvSpPr>
          <p:cNvPr id="9" name="Rechteck: abgerundete Ecken 8">
            <a:extLst>
              <a:ext uri="{FF2B5EF4-FFF2-40B4-BE49-F238E27FC236}">
                <a16:creationId xmlns:a16="http://schemas.microsoft.com/office/drawing/2014/main" id="{3F406B69-D803-478C-A267-5017DF1AE95C}"/>
              </a:ext>
            </a:extLst>
          </p:cNvPr>
          <p:cNvSpPr>
            <a:spLocks noGrp="1"/>
          </p:cNvSpPr>
          <p:nvPr/>
        </p:nvSpPr>
        <p:spPr>
          <a:xfrm>
            <a:off x="6210300" y="1943100"/>
            <a:ext cx="5372100" cy="1562100"/>
          </a:xfrm>
          <a:prstGeom prst="roundRect">
            <a:avLst>
              <a:gd name="adj" fmla="val 9756"/>
            </a:avLst>
          </a:prstGeom>
          <a:solidFill>
            <a:srgbClr val="F6F6F4"/>
          </a:solidFill>
          <a:ln w="0">
            <a:noFill/>
            <a:prstDash val="solid"/>
          </a:ln>
        </p:spPr>
      </p:sp>
      <p:sp>
        <p:nvSpPr>
          <p:cNvPr id="10" name="Rechteck 9">
            <a:extLst>
              <a:ext uri="{FF2B5EF4-FFF2-40B4-BE49-F238E27FC236}">
                <a16:creationId xmlns:a16="http://schemas.microsoft.com/office/drawing/2014/main" id="{8C0F2945-7750-40DE-A3C1-2E4FA5582A3C}"/>
              </a:ext>
            </a:extLst>
          </p:cNvPr>
          <p:cNvSpPr>
            <a:spLocks noGrp="1"/>
          </p:cNvSpPr>
          <p:nvPr/>
        </p:nvSpPr>
        <p:spPr>
          <a:xfrm>
            <a:off x="6438900" y="2171700"/>
            <a:ext cx="514350" cy="285750"/>
          </a:xfrm>
          <a:prstGeom prst="rect">
            <a:avLst/>
          </a:prstGeom>
          <a:noFill/>
          <a:ln w="0">
            <a:noFill/>
            <a:prstDash val="solid"/>
          </a:ln>
        </p:spPr>
        <p:txBody>
          <a:bodyPr wrap="square" lIns="0" tIns="0" rIns="0" bIns="0" anchor="t">
            <a:normAutofit/>
          </a:bodyPr>
          <a:lstStyle/>
          <a:p>
            <a:pPr algn="l">
              <a:defRPr sz="1350" b="1" i="0">
                <a:solidFill>
                  <a:srgbClr val="93C01C"/>
                </a:solidFill>
              </a:defRPr>
            </a:pPr>
            <a:r>
              <a:rPr sz="1350" b="1" i="0">
                <a:solidFill>
                  <a:srgbClr val="93C01C"/>
                </a:solidFill>
              </a:rPr>
              <a:t>02</a:t>
            </a:r>
          </a:p>
        </p:txBody>
      </p:sp>
      <p:sp>
        <p:nvSpPr>
          <p:cNvPr id="11" name="Rechteck 10">
            <a:extLst>
              <a:ext uri="{FF2B5EF4-FFF2-40B4-BE49-F238E27FC236}">
                <a16:creationId xmlns:a16="http://schemas.microsoft.com/office/drawing/2014/main" id="{FEE9978B-F458-4F45-8013-159112797E22}"/>
              </a:ext>
            </a:extLst>
          </p:cNvPr>
          <p:cNvSpPr>
            <a:spLocks noGrp="1"/>
          </p:cNvSpPr>
          <p:nvPr/>
        </p:nvSpPr>
        <p:spPr>
          <a:xfrm>
            <a:off x="7124700" y="2152650"/>
            <a:ext cx="4000500" cy="3810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Eingeschränkt</a:t>
            </a:r>
          </a:p>
        </p:txBody>
      </p:sp>
      <p:sp>
        <p:nvSpPr>
          <p:cNvPr id="12" name="Rechteck 11">
            <a:extLst>
              <a:ext uri="{FF2B5EF4-FFF2-40B4-BE49-F238E27FC236}">
                <a16:creationId xmlns:a16="http://schemas.microsoft.com/office/drawing/2014/main" id="{EEB0D1BE-1F1B-473B-8BDD-E2F8576AAC70}"/>
              </a:ext>
            </a:extLst>
          </p:cNvPr>
          <p:cNvSpPr>
            <a:spLocks noGrp="1"/>
          </p:cNvSpPr>
          <p:nvPr/>
        </p:nvSpPr>
        <p:spPr>
          <a:xfrm>
            <a:off x="7124700" y="2686050"/>
            <a:ext cx="4000500" cy="628650"/>
          </a:xfrm>
          <a:prstGeom prst="rect">
            <a:avLst/>
          </a:prstGeom>
          <a:noFill/>
          <a:ln w="0">
            <a:noFill/>
            <a:prstDash val="solid"/>
          </a:ln>
        </p:spPr>
        <p:txBody>
          <a:bodyPr wrap="square" lIns="0" tIns="0" rIns="0" bIns="0" anchor="t">
            <a:normAutofit/>
          </a:bodyPr>
          <a:lstStyle/>
          <a:p>
            <a:pPr algn="l">
              <a:defRPr sz="1350" b="0" i="0">
                <a:solidFill>
                  <a:srgbClr val="5D626B"/>
                </a:solidFill>
              </a:defRPr>
            </a:pPr>
            <a:r>
              <a:rPr sz="1350" b="0" i="0">
                <a:solidFill>
                  <a:srgbClr val="5D626B"/>
                </a:solidFill>
              </a:rPr>
              <a:t>Kein Host-Zugriff und standardmäßig kein Netzwerk aus der Sandbox.</a:t>
            </a:r>
          </a:p>
        </p:txBody>
      </p:sp>
      <p:sp>
        <p:nvSpPr>
          <p:cNvPr id="13" name="Rechteck: abgerundete Ecken 12">
            <a:extLst>
              <a:ext uri="{FF2B5EF4-FFF2-40B4-BE49-F238E27FC236}">
                <a16:creationId xmlns:a16="http://schemas.microsoft.com/office/drawing/2014/main" id="{C10E8F35-53E1-4FB5-B4C6-25628689CF6F}"/>
              </a:ext>
            </a:extLst>
          </p:cNvPr>
          <p:cNvSpPr>
            <a:spLocks noGrp="1"/>
          </p:cNvSpPr>
          <p:nvPr/>
        </p:nvSpPr>
        <p:spPr>
          <a:xfrm>
            <a:off x="609600" y="3905250"/>
            <a:ext cx="5372100" cy="1562100"/>
          </a:xfrm>
          <a:prstGeom prst="roundRect">
            <a:avLst>
              <a:gd name="adj" fmla="val 9756"/>
            </a:avLst>
          </a:prstGeom>
          <a:solidFill>
            <a:srgbClr val="F6F6F4"/>
          </a:solidFill>
          <a:ln w="0">
            <a:noFill/>
            <a:prstDash val="solid"/>
          </a:ln>
        </p:spPr>
      </p:sp>
      <p:sp>
        <p:nvSpPr>
          <p:cNvPr id="14" name="Rechteck 13">
            <a:extLst>
              <a:ext uri="{FF2B5EF4-FFF2-40B4-BE49-F238E27FC236}">
                <a16:creationId xmlns:a16="http://schemas.microsoft.com/office/drawing/2014/main" id="{E3CEDA4A-11AF-417E-BB0F-C3C37127ECA0}"/>
              </a:ext>
            </a:extLst>
          </p:cNvPr>
          <p:cNvSpPr>
            <a:spLocks noGrp="1"/>
          </p:cNvSpPr>
          <p:nvPr/>
        </p:nvSpPr>
        <p:spPr>
          <a:xfrm>
            <a:off x="838200" y="4133850"/>
            <a:ext cx="514350" cy="285750"/>
          </a:xfrm>
          <a:prstGeom prst="rect">
            <a:avLst/>
          </a:prstGeom>
          <a:noFill/>
          <a:ln w="0">
            <a:noFill/>
            <a:prstDash val="solid"/>
          </a:ln>
        </p:spPr>
        <p:txBody>
          <a:bodyPr wrap="square" lIns="0" tIns="0" rIns="0" bIns="0" anchor="t">
            <a:normAutofit/>
          </a:bodyPr>
          <a:lstStyle/>
          <a:p>
            <a:pPr algn="l">
              <a:defRPr sz="1350" b="1" i="0">
                <a:solidFill>
                  <a:srgbClr val="93C01C"/>
                </a:solidFill>
              </a:defRPr>
            </a:pPr>
            <a:r>
              <a:rPr sz="1350" b="1" i="0">
                <a:solidFill>
                  <a:srgbClr val="93C01C"/>
                </a:solidFill>
              </a:rPr>
              <a:t>03</a:t>
            </a:r>
          </a:p>
        </p:txBody>
      </p:sp>
      <p:sp>
        <p:nvSpPr>
          <p:cNvPr id="15" name="Rechteck 14">
            <a:extLst>
              <a:ext uri="{FF2B5EF4-FFF2-40B4-BE49-F238E27FC236}">
                <a16:creationId xmlns:a16="http://schemas.microsoft.com/office/drawing/2014/main" id="{53C31E44-7798-4ED0-B33C-D705AC7D6F56}"/>
              </a:ext>
            </a:extLst>
          </p:cNvPr>
          <p:cNvSpPr>
            <a:spLocks noGrp="1"/>
          </p:cNvSpPr>
          <p:nvPr/>
        </p:nvSpPr>
        <p:spPr>
          <a:xfrm>
            <a:off x="1524000" y="4114800"/>
            <a:ext cx="4000500" cy="3810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Semantisch</a:t>
            </a:r>
          </a:p>
        </p:txBody>
      </p:sp>
      <p:sp>
        <p:nvSpPr>
          <p:cNvPr id="16" name="Rechteck 15">
            <a:extLst>
              <a:ext uri="{FF2B5EF4-FFF2-40B4-BE49-F238E27FC236}">
                <a16:creationId xmlns:a16="http://schemas.microsoft.com/office/drawing/2014/main" id="{AE1C1E19-DB21-474F-8B06-2331FE33F32F}"/>
              </a:ext>
            </a:extLst>
          </p:cNvPr>
          <p:cNvSpPr>
            <a:spLocks noGrp="1"/>
          </p:cNvSpPr>
          <p:nvPr/>
        </p:nvSpPr>
        <p:spPr>
          <a:xfrm>
            <a:off x="1524000" y="4648200"/>
            <a:ext cx="4000500" cy="628650"/>
          </a:xfrm>
          <a:prstGeom prst="rect">
            <a:avLst/>
          </a:prstGeom>
          <a:noFill/>
          <a:ln w="0">
            <a:noFill/>
            <a:prstDash val="solid"/>
          </a:ln>
        </p:spPr>
        <p:txBody>
          <a:bodyPr wrap="square" lIns="0" tIns="0" rIns="0" bIns="0" anchor="t">
            <a:normAutofit/>
          </a:bodyPr>
          <a:lstStyle/>
          <a:p>
            <a:pPr algn="l">
              <a:defRPr sz="1350" b="0" i="0">
                <a:solidFill>
                  <a:srgbClr val="5D626B"/>
                </a:solidFill>
              </a:defRPr>
            </a:pPr>
            <a:r>
              <a:rPr sz="1350" b="0" i="0">
                <a:solidFill>
                  <a:srgbClr val="5D626B"/>
                </a:solidFill>
              </a:rPr>
              <a:t>Konkrete Aktionen und Pfade – keine Shell, keine Plugins, keine Sonderrechte.</a:t>
            </a:r>
          </a:p>
        </p:txBody>
      </p:sp>
      <p:sp>
        <p:nvSpPr>
          <p:cNvPr id="17" name="Rechteck: abgerundete Ecken 16">
            <a:extLst>
              <a:ext uri="{FF2B5EF4-FFF2-40B4-BE49-F238E27FC236}">
                <a16:creationId xmlns:a16="http://schemas.microsoft.com/office/drawing/2014/main" id="{DA772C74-4271-46FA-B4BB-CFC5AF91DE2D}"/>
              </a:ext>
            </a:extLst>
          </p:cNvPr>
          <p:cNvSpPr>
            <a:spLocks noGrp="1"/>
          </p:cNvSpPr>
          <p:nvPr/>
        </p:nvSpPr>
        <p:spPr>
          <a:xfrm>
            <a:off x="6210300" y="3905250"/>
            <a:ext cx="5372100" cy="1562100"/>
          </a:xfrm>
          <a:prstGeom prst="roundRect">
            <a:avLst>
              <a:gd name="adj" fmla="val 9756"/>
            </a:avLst>
          </a:prstGeom>
          <a:solidFill>
            <a:srgbClr val="F6F6F4"/>
          </a:solidFill>
          <a:ln w="0">
            <a:noFill/>
            <a:prstDash val="solid"/>
          </a:ln>
        </p:spPr>
      </p:sp>
      <p:sp>
        <p:nvSpPr>
          <p:cNvPr id="18" name="Rechteck 17">
            <a:extLst>
              <a:ext uri="{FF2B5EF4-FFF2-40B4-BE49-F238E27FC236}">
                <a16:creationId xmlns:a16="http://schemas.microsoft.com/office/drawing/2014/main" id="{F6BD30C1-6D9E-47D9-9BCD-FF5CE4093B03}"/>
              </a:ext>
            </a:extLst>
          </p:cNvPr>
          <p:cNvSpPr>
            <a:spLocks noGrp="1"/>
          </p:cNvSpPr>
          <p:nvPr/>
        </p:nvSpPr>
        <p:spPr>
          <a:xfrm>
            <a:off x="6438900" y="4133850"/>
            <a:ext cx="514350" cy="285750"/>
          </a:xfrm>
          <a:prstGeom prst="rect">
            <a:avLst/>
          </a:prstGeom>
          <a:noFill/>
          <a:ln w="0">
            <a:noFill/>
            <a:prstDash val="solid"/>
          </a:ln>
        </p:spPr>
        <p:txBody>
          <a:bodyPr wrap="square" lIns="0" tIns="0" rIns="0" bIns="0" anchor="t">
            <a:normAutofit/>
          </a:bodyPr>
          <a:lstStyle/>
          <a:p>
            <a:pPr algn="l">
              <a:defRPr sz="1350" b="1" i="0">
                <a:solidFill>
                  <a:srgbClr val="93C01C"/>
                </a:solidFill>
              </a:defRPr>
            </a:pPr>
            <a:r>
              <a:rPr sz="1350" b="1" i="0">
                <a:solidFill>
                  <a:srgbClr val="93C01C"/>
                </a:solidFill>
              </a:rPr>
              <a:t>04</a:t>
            </a:r>
          </a:p>
        </p:txBody>
      </p:sp>
      <p:sp>
        <p:nvSpPr>
          <p:cNvPr id="19" name="Rechteck 18">
            <a:extLst>
              <a:ext uri="{FF2B5EF4-FFF2-40B4-BE49-F238E27FC236}">
                <a16:creationId xmlns:a16="http://schemas.microsoft.com/office/drawing/2014/main" id="{A50C3E74-D0E4-4F4C-A773-B2CC5A77E260}"/>
              </a:ext>
            </a:extLst>
          </p:cNvPr>
          <p:cNvSpPr>
            <a:spLocks noGrp="1"/>
          </p:cNvSpPr>
          <p:nvPr/>
        </p:nvSpPr>
        <p:spPr>
          <a:xfrm>
            <a:off x="7124700" y="4114800"/>
            <a:ext cx="4000500" cy="381000"/>
          </a:xfrm>
          <a:prstGeom prst="rect">
            <a:avLst/>
          </a:prstGeom>
          <a:noFill/>
          <a:ln w="0">
            <a:noFill/>
            <a:prstDash val="solid"/>
          </a:ln>
        </p:spPr>
        <p:txBody>
          <a:bodyPr wrap="square" lIns="0" tIns="0" rIns="0" bIns="0" anchor="t">
            <a:normAutofit/>
          </a:bodyPr>
          <a:lstStyle/>
          <a:p>
            <a:pPr algn="l">
              <a:defRPr sz="2025" b="1" i="0">
                <a:solidFill>
                  <a:srgbClr val="000020"/>
                </a:solidFill>
              </a:defRPr>
            </a:pPr>
            <a:r>
              <a:rPr sz="2025" b="1" i="0">
                <a:solidFill>
                  <a:srgbClr val="000020"/>
                </a:solidFill>
              </a:rPr>
              <a:t>Reviewbar</a:t>
            </a:r>
          </a:p>
        </p:txBody>
      </p:sp>
      <p:sp>
        <p:nvSpPr>
          <p:cNvPr id="20" name="Rechteck 19">
            <a:extLst>
              <a:ext uri="{FF2B5EF4-FFF2-40B4-BE49-F238E27FC236}">
                <a16:creationId xmlns:a16="http://schemas.microsoft.com/office/drawing/2014/main" id="{D8D3F2A0-3DD3-46DA-BEE0-6B7D589CB83A}"/>
              </a:ext>
            </a:extLst>
          </p:cNvPr>
          <p:cNvSpPr>
            <a:spLocks noGrp="1"/>
          </p:cNvSpPr>
          <p:nvPr/>
        </p:nvSpPr>
        <p:spPr>
          <a:xfrm>
            <a:off x="7124700" y="4648200"/>
            <a:ext cx="4000500" cy="628650"/>
          </a:xfrm>
          <a:prstGeom prst="rect">
            <a:avLst/>
          </a:prstGeom>
          <a:noFill/>
          <a:ln w="0">
            <a:noFill/>
            <a:prstDash val="solid"/>
          </a:ln>
        </p:spPr>
        <p:txBody>
          <a:bodyPr wrap="square" lIns="0" tIns="0" rIns="0" bIns="0" anchor="t">
            <a:normAutofit/>
          </a:bodyPr>
          <a:lstStyle/>
          <a:p>
            <a:pPr algn="l">
              <a:defRPr sz="1350" b="0" i="0">
                <a:solidFill>
                  <a:srgbClr val="5D626B"/>
                </a:solidFill>
              </a:defRPr>
            </a:pPr>
            <a:r>
              <a:rPr sz="1350" b="0" i="0">
                <a:solidFill>
                  <a:srgbClr val="5D626B"/>
                </a:solidFill>
              </a:rPr>
              <a:t>Diff, Validatoren und Tests vor dem MR – kein automatisches Merge.</a:t>
            </a:r>
          </a:p>
        </p:txBody>
      </p:sp>
      <p:sp>
        <p:nvSpPr>
          <p:cNvPr id="21" name="Rechteck 20">
            <a:extLst>
              <a:ext uri="{FF2B5EF4-FFF2-40B4-BE49-F238E27FC236}">
                <a16:creationId xmlns:a16="http://schemas.microsoft.com/office/drawing/2014/main" id="{357B7645-5B26-4E06-AF26-907365E31197}"/>
              </a:ext>
            </a:extLst>
          </p:cNvPr>
          <p:cNvSpPr>
            <a:spLocks noGrp="1"/>
          </p:cNvSpPr>
          <p:nvPr/>
        </p:nvSpPr>
        <p:spPr>
          <a:xfrm>
            <a:off x="609600" y="5810250"/>
            <a:ext cx="10972800" cy="419100"/>
          </a:xfrm>
          <a:prstGeom prst="rect">
            <a:avLst/>
          </a:prstGeom>
          <a:noFill/>
          <a:ln w="0">
            <a:noFill/>
            <a:prstDash val="solid"/>
          </a:ln>
        </p:spPr>
        <p:txBody>
          <a:bodyPr wrap="square" lIns="0" tIns="0" rIns="0" bIns="0" anchor="t">
            <a:normAutofit/>
          </a:bodyPr>
          <a:lstStyle/>
          <a:p>
            <a:pPr algn="ctr">
              <a:defRPr sz="1575" b="1" i="0">
                <a:solidFill>
                  <a:srgbClr val="06443D"/>
                </a:solidFill>
              </a:defRPr>
            </a:pPr>
            <a:r>
              <a:rPr sz="1575" b="1" i="0">
                <a:solidFill>
                  <a:srgbClr val="06443D"/>
                </a:solidFill>
              </a:rPr>
              <a:t>Wir vertrauen nicht darauf, dass das Modell vorsichtig ist. Wir begrenzen, was technisch möglich ist.</a:t>
            </a:r>
          </a:p>
        </p:txBody>
      </p:sp>
    </p:spTree>
    <p:extLst>
      <p:ext uri="{BB962C8B-B14F-4D97-AF65-F5344CB8AC3E}">
        <p14:creationId xmlns:p14="http://schemas.microsoft.com/office/powerpoint/2010/main" val="1843250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386976B0-B507-4E58-9D01-9EF00213C4A2}"/>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DER TECH-STACK</a:t>
            </a:r>
          </a:p>
        </p:txBody>
      </p:sp>
      <p:sp>
        <p:nvSpPr>
          <p:cNvPr id="2" name="Rechteck 1">
            <a:extLst>
              <a:ext uri="{FF2B5EF4-FFF2-40B4-BE49-F238E27FC236}">
                <a16:creationId xmlns:a16="http://schemas.microsoft.com/office/drawing/2014/main" id="{0479E893-E2A8-47A4-994E-49D2E92099FE}"/>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Technisch ambitioniert. Operativ vertraut.</a:t>
            </a:r>
          </a:p>
        </p:txBody>
      </p:sp>
      <p:sp>
        <p:nvSpPr>
          <p:cNvPr id="3" name="Rechteck 2">
            <a:extLst>
              <a:ext uri="{FF2B5EF4-FFF2-40B4-BE49-F238E27FC236}">
                <a16:creationId xmlns:a16="http://schemas.microsoft.com/office/drawing/2014/main" id="{C4232326-312C-41B4-9F43-9F99A71C3A89}"/>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4FD7403C-0600-43E4-A692-FBFBBD46248C}"/>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08</a:t>
            </a:r>
          </a:p>
        </p:txBody>
      </p:sp>
      <p:sp>
        <p:nvSpPr>
          <p:cNvPr id="5" name="Rechteck 4">
            <a:extLst>
              <a:ext uri="{FF2B5EF4-FFF2-40B4-BE49-F238E27FC236}">
                <a16:creationId xmlns:a16="http://schemas.microsoft.com/office/drawing/2014/main" id="{DA61FC5F-8EC3-49DF-991E-CF7F614A8D98}"/>
              </a:ext>
            </a:extLst>
          </p:cNvPr>
          <p:cNvSpPr>
            <a:spLocks noGrp="1"/>
          </p:cNvSpPr>
          <p:nvPr/>
        </p:nvSpPr>
        <p:spPr>
          <a:xfrm>
            <a:off x="609600" y="2000250"/>
            <a:ext cx="4095750" cy="685800"/>
          </a:xfrm>
          <a:prstGeom prst="rect">
            <a:avLst/>
          </a:prstGeom>
          <a:noFill/>
          <a:ln w="0">
            <a:noFill/>
            <a:prstDash val="solid"/>
          </a:ln>
        </p:spPr>
        <p:txBody>
          <a:bodyPr wrap="square" lIns="0" tIns="0" rIns="0" bIns="0" anchor="t">
            <a:normAutofit/>
          </a:bodyPr>
          <a:lstStyle/>
          <a:p>
            <a:pPr algn="l">
              <a:defRPr sz="3600" b="1" i="0">
                <a:solidFill>
                  <a:srgbClr val="000020"/>
                </a:solidFill>
              </a:defRPr>
            </a:pPr>
            <a:r>
              <a:rPr sz="3600" b="1" i="0">
                <a:solidFill>
                  <a:srgbClr val="000020"/>
                </a:solidFill>
              </a:rPr>
              <a:t>C# / .NET 10</a:t>
            </a:r>
          </a:p>
        </p:txBody>
      </p:sp>
      <p:sp>
        <p:nvSpPr>
          <p:cNvPr id="6" name="Rechteck 5">
            <a:extLst>
              <a:ext uri="{FF2B5EF4-FFF2-40B4-BE49-F238E27FC236}">
                <a16:creationId xmlns:a16="http://schemas.microsoft.com/office/drawing/2014/main" id="{ABD21683-1BD7-4911-9E65-6D14CC34DFD5}"/>
              </a:ext>
            </a:extLst>
          </p:cNvPr>
          <p:cNvSpPr>
            <a:spLocks noGrp="1"/>
          </p:cNvSpPr>
          <p:nvPr/>
        </p:nvSpPr>
        <p:spPr>
          <a:xfrm>
            <a:off x="609600" y="2876550"/>
            <a:ext cx="4095750" cy="1123950"/>
          </a:xfrm>
          <a:prstGeom prst="rect">
            <a:avLst/>
          </a:prstGeom>
          <a:noFill/>
          <a:ln w="0">
            <a:noFill/>
            <a:prstDash val="solid"/>
          </a:ln>
        </p:spPr>
        <p:txBody>
          <a:bodyPr wrap="square" lIns="0" tIns="0" rIns="0" bIns="0" anchor="t">
            <a:normAutofit/>
          </a:bodyPr>
          <a:lstStyle/>
          <a:p>
            <a:pPr algn="l">
              <a:defRPr sz="1800" b="0" i="0">
                <a:solidFill>
                  <a:srgbClr val="5D626B"/>
                </a:solidFill>
              </a:defRPr>
            </a:pPr>
            <a:r>
              <a:rPr sz="1800" b="0" i="0">
                <a:solidFill>
                  <a:srgbClr val="5D626B"/>
                </a:solidFill>
              </a:rPr>
              <a:t>Eine Control-Plane, die wir verstehen, reviewen und langfristig betreiben können.</a:t>
            </a:r>
          </a:p>
        </p:txBody>
      </p:sp>
      <p:sp>
        <p:nvSpPr>
          <p:cNvPr id="7" name="Rechteck 6">
            <a:extLst>
              <a:ext uri="{FF2B5EF4-FFF2-40B4-BE49-F238E27FC236}">
                <a16:creationId xmlns:a16="http://schemas.microsoft.com/office/drawing/2014/main" id="{B2524096-2247-48B9-8E4F-886527F7A4AB}"/>
              </a:ext>
            </a:extLst>
          </p:cNvPr>
          <p:cNvSpPr>
            <a:spLocks noGrp="1"/>
          </p:cNvSpPr>
          <p:nvPr/>
        </p:nvSpPr>
        <p:spPr>
          <a:xfrm>
            <a:off x="609600" y="4476750"/>
            <a:ext cx="4095750" cy="685800"/>
          </a:xfrm>
          <a:prstGeom prst="rect">
            <a:avLst/>
          </a:prstGeom>
          <a:noFill/>
          <a:ln w="0">
            <a:noFill/>
            <a:prstDash val="solid"/>
          </a:ln>
        </p:spPr>
        <p:txBody>
          <a:bodyPr wrap="square" lIns="0" tIns="0" rIns="0" bIns="0" anchor="t">
            <a:normAutofit/>
          </a:bodyPr>
          <a:lstStyle/>
          <a:p>
            <a:pPr algn="l">
              <a:defRPr sz="1650" b="1" i="0">
                <a:solidFill>
                  <a:srgbClr val="06443D"/>
                </a:solidFill>
              </a:defRPr>
            </a:pPr>
            <a:r>
              <a:rPr sz="1650" b="1" i="0">
                <a:solidFill>
                  <a:srgbClr val="06443D"/>
                </a:solidFill>
              </a:rPr>
              <a:t>MCP verbindet Agenten. REST verbindet Workflows.</a:t>
            </a:r>
          </a:p>
        </p:txBody>
      </p:sp>
      <p:sp>
        <p:nvSpPr>
          <p:cNvPr id="8" name="Rechteck: abgerundete Ecken 7">
            <a:extLst>
              <a:ext uri="{FF2B5EF4-FFF2-40B4-BE49-F238E27FC236}">
                <a16:creationId xmlns:a16="http://schemas.microsoft.com/office/drawing/2014/main" id="{257B9CD5-A402-45AC-90EC-EF7AAA89FEA5}"/>
              </a:ext>
            </a:extLst>
          </p:cNvPr>
          <p:cNvSpPr>
            <a:spLocks noGrp="1"/>
          </p:cNvSpPr>
          <p:nvPr/>
        </p:nvSpPr>
        <p:spPr>
          <a:xfrm>
            <a:off x="5562600" y="1809750"/>
            <a:ext cx="5753100" cy="628650"/>
          </a:xfrm>
          <a:prstGeom prst="roundRect">
            <a:avLst>
              <a:gd name="adj" fmla="val 18182"/>
            </a:avLst>
          </a:prstGeom>
          <a:solidFill>
            <a:srgbClr val="F6F6F4"/>
          </a:solidFill>
          <a:ln w="0">
            <a:noFill/>
            <a:prstDash val="solid"/>
          </a:ln>
        </p:spPr>
      </p:sp>
      <p:sp>
        <p:nvSpPr>
          <p:cNvPr id="9" name="Rechteck 8">
            <a:extLst>
              <a:ext uri="{FF2B5EF4-FFF2-40B4-BE49-F238E27FC236}">
                <a16:creationId xmlns:a16="http://schemas.microsoft.com/office/drawing/2014/main" id="{C2629025-12BF-4995-9C94-9B2031DE7235}"/>
              </a:ext>
            </a:extLst>
          </p:cNvPr>
          <p:cNvSpPr>
            <a:spLocks noGrp="1"/>
          </p:cNvSpPr>
          <p:nvPr/>
        </p:nvSpPr>
        <p:spPr>
          <a:xfrm>
            <a:off x="5734050" y="1990725"/>
            <a:ext cx="5410200" cy="285750"/>
          </a:xfrm>
          <a:prstGeom prst="rect">
            <a:avLst/>
          </a:prstGeom>
          <a:noFill/>
          <a:ln w="0">
            <a:noFill/>
            <a:prstDash val="solid"/>
          </a:ln>
        </p:spPr>
        <p:txBody>
          <a:bodyPr wrap="square" lIns="0" tIns="0" rIns="0" bIns="0" anchor="t">
            <a:normAutofit/>
          </a:bodyPr>
          <a:lstStyle/>
          <a:p>
            <a:pPr algn="ctr">
              <a:defRPr sz="1575" b="1" i="0">
                <a:solidFill>
                  <a:srgbClr val="000020"/>
                </a:solidFill>
              </a:defRPr>
            </a:pPr>
            <a:r>
              <a:rPr sz="1575" b="1" i="0">
                <a:solidFill>
                  <a:srgbClr val="000020"/>
                </a:solidFill>
              </a:rPr>
              <a:t>Zoho · Open WebUI · n8n</a:t>
            </a:r>
          </a:p>
        </p:txBody>
      </p:sp>
      <p:sp>
        <p:nvSpPr>
          <p:cNvPr id="10" name="Rechteck: abgerundete Ecken 9">
            <a:extLst>
              <a:ext uri="{FF2B5EF4-FFF2-40B4-BE49-F238E27FC236}">
                <a16:creationId xmlns:a16="http://schemas.microsoft.com/office/drawing/2014/main" id="{7A0B52F2-1BED-4C0C-9FD8-2B70CAE512DD}"/>
              </a:ext>
            </a:extLst>
          </p:cNvPr>
          <p:cNvSpPr>
            <a:spLocks noGrp="1"/>
          </p:cNvSpPr>
          <p:nvPr/>
        </p:nvSpPr>
        <p:spPr>
          <a:xfrm>
            <a:off x="5695950" y="2590800"/>
            <a:ext cx="5486400" cy="628650"/>
          </a:xfrm>
          <a:prstGeom prst="roundRect">
            <a:avLst>
              <a:gd name="adj" fmla="val 18182"/>
            </a:avLst>
          </a:prstGeom>
          <a:solidFill>
            <a:srgbClr val="EAF7F5"/>
          </a:solidFill>
          <a:ln w="0">
            <a:noFill/>
            <a:prstDash val="solid"/>
          </a:ln>
        </p:spPr>
      </p:sp>
      <p:sp>
        <p:nvSpPr>
          <p:cNvPr id="11" name="Rechteck 10">
            <a:extLst>
              <a:ext uri="{FF2B5EF4-FFF2-40B4-BE49-F238E27FC236}">
                <a16:creationId xmlns:a16="http://schemas.microsoft.com/office/drawing/2014/main" id="{CA65E2AF-8E1E-4ADA-A0AD-363F89626840}"/>
              </a:ext>
            </a:extLst>
          </p:cNvPr>
          <p:cNvSpPr>
            <a:spLocks noGrp="1"/>
          </p:cNvSpPr>
          <p:nvPr/>
        </p:nvSpPr>
        <p:spPr>
          <a:xfrm>
            <a:off x="5867400" y="2771775"/>
            <a:ext cx="5143500" cy="285750"/>
          </a:xfrm>
          <a:prstGeom prst="rect">
            <a:avLst/>
          </a:prstGeom>
          <a:noFill/>
          <a:ln w="0">
            <a:noFill/>
            <a:prstDash val="solid"/>
          </a:ln>
        </p:spPr>
        <p:txBody>
          <a:bodyPr wrap="square" lIns="0" tIns="0" rIns="0" bIns="0" anchor="t">
            <a:normAutofit/>
          </a:bodyPr>
          <a:lstStyle/>
          <a:p>
            <a:pPr algn="ctr">
              <a:defRPr sz="1575" b="1" i="0">
                <a:solidFill>
                  <a:srgbClr val="06443D"/>
                </a:solidFill>
              </a:defRPr>
            </a:pPr>
            <a:r>
              <a:rPr sz="1575" b="1" i="0">
                <a:solidFill>
                  <a:srgbClr val="06443D"/>
                </a:solidFill>
              </a:rPr>
              <a:t>MCP + REST Gateway</a:t>
            </a:r>
          </a:p>
        </p:txBody>
      </p:sp>
      <p:sp>
        <p:nvSpPr>
          <p:cNvPr id="12" name="Rechteck: abgerundete Ecken 11">
            <a:extLst>
              <a:ext uri="{FF2B5EF4-FFF2-40B4-BE49-F238E27FC236}">
                <a16:creationId xmlns:a16="http://schemas.microsoft.com/office/drawing/2014/main" id="{A09BC069-553D-4C5F-8B90-DC500CF7D28B}"/>
              </a:ext>
            </a:extLst>
          </p:cNvPr>
          <p:cNvSpPr>
            <a:spLocks noGrp="1"/>
          </p:cNvSpPr>
          <p:nvPr/>
        </p:nvSpPr>
        <p:spPr>
          <a:xfrm>
            <a:off x="5829300" y="3371850"/>
            <a:ext cx="5219700" cy="628650"/>
          </a:xfrm>
          <a:prstGeom prst="roundRect">
            <a:avLst>
              <a:gd name="adj" fmla="val 18182"/>
            </a:avLst>
          </a:prstGeom>
          <a:solidFill>
            <a:srgbClr val="CCECE8"/>
          </a:solidFill>
          <a:ln w="0">
            <a:noFill/>
            <a:prstDash val="solid"/>
          </a:ln>
        </p:spPr>
      </p:sp>
      <p:sp>
        <p:nvSpPr>
          <p:cNvPr id="13" name="Rechteck 12">
            <a:extLst>
              <a:ext uri="{FF2B5EF4-FFF2-40B4-BE49-F238E27FC236}">
                <a16:creationId xmlns:a16="http://schemas.microsoft.com/office/drawing/2014/main" id="{322F98A3-68BF-4B8B-AE82-983BD718DFCC}"/>
              </a:ext>
            </a:extLst>
          </p:cNvPr>
          <p:cNvSpPr>
            <a:spLocks noGrp="1"/>
          </p:cNvSpPr>
          <p:nvPr/>
        </p:nvSpPr>
        <p:spPr>
          <a:xfrm>
            <a:off x="6000750" y="3552825"/>
            <a:ext cx="4876800" cy="285750"/>
          </a:xfrm>
          <a:prstGeom prst="rect">
            <a:avLst/>
          </a:prstGeom>
          <a:noFill/>
          <a:ln w="0">
            <a:noFill/>
            <a:prstDash val="solid"/>
          </a:ln>
        </p:spPr>
        <p:txBody>
          <a:bodyPr wrap="square" lIns="0" tIns="0" rIns="0" bIns="0" anchor="t">
            <a:normAutofit/>
          </a:bodyPr>
          <a:lstStyle/>
          <a:p>
            <a:pPr algn="ctr">
              <a:defRPr sz="1575" b="1" i="0">
                <a:solidFill>
                  <a:srgbClr val="06443D"/>
                </a:solidFill>
              </a:defRPr>
            </a:pPr>
            <a:r>
              <a:rPr sz="1575" b="1" i="0">
                <a:solidFill>
                  <a:srgbClr val="06443D"/>
                </a:solidFill>
              </a:rPr>
              <a:t>ASP.NET Core · PostgreSQL</a:t>
            </a:r>
          </a:p>
        </p:txBody>
      </p:sp>
      <p:sp>
        <p:nvSpPr>
          <p:cNvPr id="14" name="Rechteck: abgerundete Ecken 13">
            <a:extLst>
              <a:ext uri="{FF2B5EF4-FFF2-40B4-BE49-F238E27FC236}">
                <a16:creationId xmlns:a16="http://schemas.microsoft.com/office/drawing/2014/main" id="{4AE86C87-DA2D-4CCF-82EB-07696F64B3EB}"/>
              </a:ext>
            </a:extLst>
          </p:cNvPr>
          <p:cNvSpPr>
            <a:spLocks noGrp="1"/>
          </p:cNvSpPr>
          <p:nvPr/>
        </p:nvSpPr>
        <p:spPr>
          <a:xfrm>
            <a:off x="5962650" y="4152900"/>
            <a:ext cx="4953000" cy="628650"/>
          </a:xfrm>
          <a:prstGeom prst="roundRect">
            <a:avLst>
              <a:gd name="adj" fmla="val 18182"/>
            </a:avLst>
          </a:prstGeom>
          <a:solidFill>
            <a:srgbClr val="0A6156"/>
          </a:solidFill>
          <a:ln w="0">
            <a:noFill/>
            <a:prstDash val="solid"/>
          </a:ln>
        </p:spPr>
      </p:sp>
      <p:sp>
        <p:nvSpPr>
          <p:cNvPr id="15" name="Rechteck 14">
            <a:extLst>
              <a:ext uri="{FF2B5EF4-FFF2-40B4-BE49-F238E27FC236}">
                <a16:creationId xmlns:a16="http://schemas.microsoft.com/office/drawing/2014/main" id="{03512E01-4FCB-4643-8042-BAE2526F4942}"/>
              </a:ext>
            </a:extLst>
          </p:cNvPr>
          <p:cNvSpPr>
            <a:spLocks noGrp="1"/>
          </p:cNvSpPr>
          <p:nvPr/>
        </p:nvSpPr>
        <p:spPr>
          <a:xfrm>
            <a:off x="6134100" y="4333875"/>
            <a:ext cx="4610100" cy="285750"/>
          </a:xfrm>
          <a:prstGeom prst="rect">
            <a:avLst/>
          </a:prstGeom>
          <a:noFill/>
          <a:ln w="0">
            <a:noFill/>
            <a:prstDash val="solid"/>
          </a:ln>
        </p:spPr>
        <p:txBody>
          <a:bodyPr wrap="square" lIns="0" tIns="0" rIns="0" bIns="0" anchor="t">
            <a:normAutofit/>
          </a:bodyPr>
          <a:lstStyle/>
          <a:p>
            <a:pPr algn="ctr">
              <a:defRPr sz="1575" b="1" i="0">
                <a:solidFill>
                  <a:srgbClr val="FFFFFF"/>
                </a:solidFill>
              </a:defRPr>
            </a:pPr>
            <a:r>
              <a:rPr sz="1575" b="1" i="0">
                <a:solidFill>
                  <a:srgbClr val="FFFFFF"/>
                </a:solidFill>
              </a:rPr>
              <a:t>Docker Sandbox · Git Worktrees</a:t>
            </a:r>
          </a:p>
        </p:txBody>
      </p:sp>
      <p:sp>
        <p:nvSpPr>
          <p:cNvPr id="16" name="Rechteck: abgerundete Ecken 15">
            <a:extLst>
              <a:ext uri="{FF2B5EF4-FFF2-40B4-BE49-F238E27FC236}">
                <a16:creationId xmlns:a16="http://schemas.microsoft.com/office/drawing/2014/main" id="{55746D98-8E50-450E-AC64-F3B35D0BF3C1}"/>
              </a:ext>
            </a:extLst>
          </p:cNvPr>
          <p:cNvSpPr>
            <a:spLocks noGrp="1"/>
          </p:cNvSpPr>
          <p:nvPr/>
        </p:nvSpPr>
        <p:spPr>
          <a:xfrm>
            <a:off x="6096000" y="4933950"/>
            <a:ext cx="4686300" cy="628650"/>
          </a:xfrm>
          <a:prstGeom prst="roundRect">
            <a:avLst>
              <a:gd name="adj" fmla="val 18182"/>
            </a:avLst>
          </a:prstGeom>
          <a:solidFill>
            <a:srgbClr val="000020"/>
          </a:solidFill>
          <a:ln w="0">
            <a:noFill/>
            <a:prstDash val="solid"/>
          </a:ln>
        </p:spPr>
      </p:sp>
      <p:sp>
        <p:nvSpPr>
          <p:cNvPr id="17" name="Rechteck 16">
            <a:extLst>
              <a:ext uri="{FF2B5EF4-FFF2-40B4-BE49-F238E27FC236}">
                <a16:creationId xmlns:a16="http://schemas.microsoft.com/office/drawing/2014/main" id="{91AF76CC-24E4-47FA-B2D2-87A1D62595CC}"/>
              </a:ext>
            </a:extLst>
          </p:cNvPr>
          <p:cNvSpPr>
            <a:spLocks noGrp="1"/>
          </p:cNvSpPr>
          <p:nvPr/>
        </p:nvSpPr>
        <p:spPr>
          <a:xfrm>
            <a:off x="6267450" y="5114925"/>
            <a:ext cx="4343400" cy="285750"/>
          </a:xfrm>
          <a:prstGeom prst="rect">
            <a:avLst/>
          </a:prstGeom>
          <a:noFill/>
          <a:ln w="0">
            <a:noFill/>
            <a:prstDash val="solid"/>
          </a:ln>
        </p:spPr>
        <p:txBody>
          <a:bodyPr wrap="square" lIns="0" tIns="0" rIns="0" bIns="0" anchor="t">
            <a:normAutofit/>
          </a:bodyPr>
          <a:lstStyle/>
          <a:p>
            <a:pPr algn="ctr">
              <a:defRPr sz="1575" b="1" i="0">
                <a:solidFill>
                  <a:srgbClr val="FFFFFF"/>
                </a:solidFill>
              </a:defRPr>
            </a:pPr>
            <a:r>
              <a:rPr sz="1575" b="1" i="0">
                <a:solidFill>
                  <a:srgbClr val="FFFFFF"/>
                </a:solidFill>
              </a:rPr>
              <a:t>Debian · GitHub/GitLab · Vault</a:t>
            </a:r>
          </a:p>
        </p:txBody>
      </p:sp>
      <p:sp>
        <p:nvSpPr>
          <p:cNvPr id="18" name="Rechteck 17">
            <a:extLst>
              <a:ext uri="{FF2B5EF4-FFF2-40B4-BE49-F238E27FC236}">
                <a16:creationId xmlns:a16="http://schemas.microsoft.com/office/drawing/2014/main" id="{279E9910-82CA-4CF2-B997-B57858511164}"/>
              </a:ext>
            </a:extLst>
          </p:cNvPr>
          <p:cNvSpPr>
            <a:spLocks noGrp="1"/>
          </p:cNvSpPr>
          <p:nvPr/>
        </p:nvSpPr>
        <p:spPr>
          <a:xfrm>
            <a:off x="5562600" y="5962650"/>
            <a:ext cx="5753100" cy="266700"/>
          </a:xfrm>
          <a:prstGeom prst="rect">
            <a:avLst/>
          </a:prstGeom>
          <a:noFill/>
          <a:ln w="0">
            <a:noFill/>
            <a:prstDash val="solid"/>
          </a:ln>
        </p:spPr>
        <p:txBody>
          <a:bodyPr wrap="square" lIns="0" tIns="0" rIns="0" bIns="0" anchor="t">
            <a:normAutofit/>
          </a:bodyPr>
          <a:lstStyle/>
          <a:p>
            <a:pPr algn="ctr">
              <a:defRPr sz="1425" b="1" i="0">
                <a:solidFill>
                  <a:srgbClr val="06443D"/>
                </a:solidFill>
              </a:defRPr>
            </a:pPr>
            <a:r>
              <a:rPr sz="1425" b="1" i="0">
                <a:solidFill>
                  <a:srgbClr val="06443D"/>
                </a:solidFill>
              </a:rPr>
              <a:t>Keine exotische Blackbox. Ein bewusst kleiner, wartbarer Stack.</a:t>
            </a:r>
          </a:p>
        </p:txBody>
      </p:sp>
    </p:spTree>
    <p:extLst>
      <p:ext uri="{BB962C8B-B14F-4D97-AF65-F5344CB8AC3E}">
        <p14:creationId xmlns:p14="http://schemas.microsoft.com/office/powerpoint/2010/main" val="174320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56950D28-F5EB-4AA0-8A9B-AA5D9F8FD7AD}"/>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DER FAHRPLAN</a:t>
            </a:r>
          </a:p>
        </p:txBody>
      </p:sp>
      <p:sp>
        <p:nvSpPr>
          <p:cNvPr id="2" name="Rechteck 1">
            <a:extLst>
              <a:ext uri="{FF2B5EF4-FFF2-40B4-BE49-F238E27FC236}">
                <a16:creationId xmlns:a16="http://schemas.microsoft.com/office/drawing/2014/main" id="{D5A7FAA1-CF74-41C9-903C-0DEBB0018868}"/>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150" b="1" i="0">
                <a:solidFill>
                  <a:srgbClr val="000020"/>
                </a:solidFill>
              </a:defRPr>
            </a:pPr>
            <a:r>
              <a:rPr sz="3150" b="1" i="0">
                <a:solidFill>
                  <a:srgbClr val="000020"/>
                </a:solidFill>
              </a:rPr>
              <a:t>Fähigkeiten werden verdient – nicht vorausgesetzt.</a:t>
            </a:r>
          </a:p>
        </p:txBody>
      </p:sp>
      <p:sp>
        <p:nvSpPr>
          <p:cNvPr id="3" name="Rechteck 2">
            <a:extLst>
              <a:ext uri="{FF2B5EF4-FFF2-40B4-BE49-F238E27FC236}">
                <a16:creationId xmlns:a16="http://schemas.microsoft.com/office/drawing/2014/main" id="{DC54869C-60F0-49C9-A0EC-AE8DA59D8BE9}"/>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DD6824C0-E00D-4315-B2E3-9F905F35D3B7}"/>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09</a:t>
            </a:r>
          </a:p>
        </p:txBody>
      </p:sp>
      <p:sp>
        <p:nvSpPr>
          <p:cNvPr id="5" name="Rechteck 4">
            <a:extLst>
              <a:ext uri="{FF2B5EF4-FFF2-40B4-BE49-F238E27FC236}">
                <a16:creationId xmlns:a16="http://schemas.microsoft.com/office/drawing/2014/main" id="{297AF7A3-DD2B-402C-9E34-BA230C08346D}"/>
              </a:ext>
            </a:extLst>
          </p:cNvPr>
          <p:cNvSpPr>
            <a:spLocks noGrp="1"/>
          </p:cNvSpPr>
          <p:nvPr/>
        </p:nvSpPr>
        <p:spPr>
          <a:xfrm>
            <a:off x="1066800" y="5391150"/>
            <a:ext cx="10058400" cy="19050"/>
          </a:xfrm>
          <a:prstGeom prst="rect">
            <a:avLst/>
          </a:prstGeom>
          <a:solidFill>
            <a:srgbClr val="000020"/>
          </a:solidFill>
          <a:ln w="0">
            <a:noFill/>
            <a:prstDash val="solid"/>
          </a:ln>
        </p:spPr>
      </p:sp>
      <p:sp>
        <p:nvSpPr>
          <p:cNvPr id="6" name="Ellipse 5">
            <a:extLst>
              <a:ext uri="{FF2B5EF4-FFF2-40B4-BE49-F238E27FC236}">
                <a16:creationId xmlns:a16="http://schemas.microsoft.com/office/drawing/2014/main" id="{7E894326-3E49-42F9-9987-CFC28F778D7D}"/>
              </a:ext>
            </a:extLst>
          </p:cNvPr>
          <p:cNvSpPr>
            <a:spLocks noGrp="1"/>
          </p:cNvSpPr>
          <p:nvPr/>
        </p:nvSpPr>
        <p:spPr>
          <a:xfrm>
            <a:off x="1066800" y="5314950"/>
            <a:ext cx="171450" cy="171450"/>
          </a:xfrm>
          <a:prstGeom prst="ellipse">
            <a:avLst/>
          </a:prstGeom>
          <a:solidFill>
            <a:srgbClr val="0A6156"/>
          </a:solidFill>
          <a:ln w="0">
            <a:noFill/>
            <a:prstDash val="solid"/>
          </a:ln>
        </p:spPr>
      </p:sp>
      <p:sp>
        <p:nvSpPr>
          <p:cNvPr id="7" name="Ellipse 6">
            <a:extLst>
              <a:ext uri="{FF2B5EF4-FFF2-40B4-BE49-F238E27FC236}">
                <a16:creationId xmlns:a16="http://schemas.microsoft.com/office/drawing/2014/main" id="{E9C6F942-57F8-48DD-B822-374E0B15A11E}"/>
              </a:ext>
            </a:extLst>
          </p:cNvPr>
          <p:cNvSpPr>
            <a:spLocks noGrp="1"/>
          </p:cNvSpPr>
          <p:nvPr/>
        </p:nvSpPr>
        <p:spPr>
          <a:xfrm>
            <a:off x="4876800" y="5314950"/>
            <a:ext cx="171450" cy="171450"/>
          </a:xfrm>
          <a:prstGeom prst="ellipse">
            <a:avLst/>
          </a:prstGeom>
          <a:solidFill>
            <a:srgbClr val="0A6156"/>
          </a:solidFill>
          <a:ln w="0">
            <a:noFill/>
            <a:prstDash val="solid"/>
          </a:ln>
        </p:spPr>
      </p:sp>
      <p:sp>
        <p:nvSpPr>
          <p:cNvPr id="8" name="Ellipse 7">
            <a:extLst>
              <a:ext uri="{FF2B5EF4-FFF2-40B4-BE49-F238E27FC236}">
                <a16:creationId xmlns:a16="http://schemas.microsoft.com/office/drawing/2014/main" id="{26A41D33-CAC9-4A9E-BBC4-4221658C6713}"/>
              </a:ext>
            </a:extLst>
          </p:cNvPr>
          <p:cNvSpPr>
            <a:spLocks noGrp="1"/>
          </p:cNvSpPr>
          <p:nvPr/>
        </p:nvSpPr>
        <p:spPr>
          <a:xfrm>
            <a:off x="8686800" y="5314950"/>
            <a:ext cx="171450" cy="171450"/>
          </a:xfrm>
          <a:prstGeom prst="ellipse">
            <a:avLst/>
          </a:prstGeom>
          <a:solidFill>
            <a:srgbClr val="93C01C"/>
          </a:solidFill>
          <a:ln w="0">
            <a:noFill/>
            <a:prstDash val="solid"/>
          </a:ln>
        </p:spPr>
      </p:sp>
      <p:sp>
        <p:nvSpPr>
          <p:cNvPr id="9" name="Rechteck: abgerundete Ecken 8">
            <a:extLst>
              <a:ext uri="{FF2B5EF4-FFF2-40B4-BE49-F238E27FC236}">
                <a16:creationId xmlns:a16="http://schemas.microsoft.com/office/drawing/2014/main" id="{DCFB0EA8-5370-4C7E-B552-7D44C65132E0}"/>
              </a:ext>
            </a:extLst>
          </p:cNvPr>
          <p:cNvSpPr>
            <a:spLocks noGrp="1"/>
          </p:cNvSpPr>
          <p:nvPr/>
        </p:nvSpPr>
        <p:spPr>
          <a:xfrm>
            <a:off x="609600" y="1828800"/>
            <a:ext cx="3352800" cy="3105150"/>
          </a:xfrm>
          <a:prstGeom prst="roundRect">
            <a:avLst>
              <a:gd name="adj" fmla="val 5521"/>
            </a:avLst>
          </a:prstGeom>
          <a:solidFill>
            <a:srgbClr val="F6F6F4"/>
          </a:solidFill>
          <a:ln w="0">
            <a:noFill/>
            <a:prstDash val="solid"/>
          </a:ln>
        </p:spPr>
      </p:sp>
      <p:sp>
        <p:nvSpPr>
          <p:cNvPr id="10" name="Rechteck 9">
            <a:extLst>
              <a:ext uri="{FF2B5EF4-FFF2-40B4-BE49-F238E27FC236}">
                <a16:creationId xmlns:a16="http://schemas.microsoft.com/office/drawing/2014/main" id="{5F070BF2-1383-4562-9079-F362DEC8613E}"/>
              </a:ext>
            </a:extLst>
          </p:cNvPr>
          <p:cNvSpPr>
            <a:spLocks noGrp="1"/>
          </p:cNvSpPr>
          <p:nvPr/>
        </p:nvSpPr>
        <p:spPr>
          <a:xfrm>
            <a:off x="876300" y="2114550"/>
            <a:ext cx="28194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READ-ONLY MVP</a:t>
            </a:r>
          </a:p>
        </p:txBody>
      </p:sp>
      <p:sp>
        <p:nvSpPr>
          <p:cNvPr id="11" name="Rechteck 10">
            <a:extLst>
              <a:ext uri="{FF2B5EF4-FFF2-40B4-BE49-F238E27FC236}">
                <a16:creationId xmlns:a16="http://schemas.microsoft.com/office/drawing/2014/main" id="{8989B6E1-8B71-4D7E-B006-A3A7D90D16AD}"/>
              </a:ext>
            </a:extLst>
          </p:cNvPr>
          <p:cNvSpPr>
            <a:spLocks noGrp="1"/>
          </p:cNvSpPr>
          <p:nvPr/>
        </p:nvSpPr>
        <p:spPr>
          <a:xfrm>
            <a:off x="876300" y="2609850"/>
            <a:ext cx="2819400" cy="552450"/>
          </a:xfrm>
          <a:prstGeom prst="rect">
            <a:avLst/>
          </a:prstGeom>
          <a:noFill/>
          <a:ln w="0">
            <a:noFill/>
            <a:prstDash val="solid"/>
          </a:ln>
        </p:spPr>
        <p:txBody>
          <a:bodyPr wrap="square" lIns="0" tIns="0" rIns="0" bIns="0" anchor="t">
            <a:normAutofit/>
          </a:bodyPr>
          <a:lstStyle/>
          <a:p>
            <a:pPr algn="l">
              <a:defRPr sz="2625" b="1" i="0">
                <a:solidFill>
                  <a:srgbClr val="000020"/>
                </a:solidFill>
              </a:defRPr>
            </a:pPr>
            <a:r>
              <a:rPr sz="2625" b="1" i="0">
                <a:solidFill>
                  <a:srgbClr val="000020"/>
                </a:solidFill>
              </a:rPr>
              <a:t>Lesen</a:t>
            </a:r>
          </a:p>
        </p:txBody>
      </p:sp>
      <p:sp>
        <p:nvSpPr>
          <p:cNvPr id="12" name="Rechteck 11">
            <a:extLst>
              <a:ext uri="{FF2B5EF4-FFF2-40B4-BE49-F238E27FC236}">
                <a16:creationId xmlns:a16="http://schemas.microsoft.com/office/drawing/2014/main" id="{9952931F-1290-42B1-87B4-41A6BD2C8F4A}"/>
              </a:ext>
            </a:extLst>
          </p:cNvPr>
          <p:cNvSpPr>
            <a:spLocks noGrp="1"/>
          </p:cNvSpPr>
          <p:nvPr/>
        </p:nvSpPr>
        <p:spPr>
          <a:xfrm>
            <a:off x="876300" y="3429000"/>
            <a:ext cx="2819400" cy="10668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Code, Config und Wissensvault durchsuchen – ohne Schreibrechte.</a:t>
            </a:r>
          </a:p>
        </p:txBody>
      </p:sp>
      <p:sp>
        <p:nvSpPr>
          <p:cNvPr id="13" name="Rechteck 12">
            <a:extLst>
              <a:ext uri="{FF2B5EF4-FFF2-40B4-BE49-F238E27FC236}">
                <a16:creationId xmlns:a16="http://schemas.microsoft.com/office/drawing/2014/main" id="{591F5492-0781-4622-A198-D10423F23F02}"/>
              </a:ext>
            </a:extLst>
          </p:cNvPr>
          <p:cNvSpPr>
            <a:spLocks noGrp="1"/>
          </p:cNvSpPr>
          <p:nvPr/>
        </p:nvSpPr>
        <p:spPr>
          <a:xfrm>
            <a:off x="876300" y="5619750"/>
            <a:ext cx="952500" cy="285750"/>
          </a:xfrm>
          <a:prstGeom prst="rect">
            <a:avLst/>
          </a:prstGeom>
          <a:noFill/>
          <a:ln w="0">
            <a:noFill/>
            <a:prstDash val="solid"/>
          </a:ln>
        </p:spPr>
        <p:txBody>
          <a:bodyPr wrap="square" lIns="0" tIns="0" rIns="0" bIns="0" anchor="t">
            <a:normAutofit/>
          </a:bodyPr>
          <a:lstStyle/>
          <a:p>
            <a:pPr algn="l">
              <a:defRPr sz="1350" b="1" i="0">
                <a:solidFill>
                  <a:srgbClr val="0A6156"/>
                </a:solidFill>
              </a:defRPr>
            </a:pPr>
            <a:r>
              <a:rPr sz="1350" b="1" i="0">
                <a:solidFill>
                  <a:srgbClr val="0A6156"/>
                </a:solidFill>
              </a:rPr>
              <a:t>01</a:t>
            </a:r>
          </a:p>
        </p:txBody>
      </p:sp>
      <p:sp>
        <p:nvSpPr>
          <p:cNvPr id="14" name="Rechteck: abgerundete Ecken 13">
            <a:extLst>
              <a:ext uri="{FF2B5EF4-FFF2-40B4-BE49-F238E27FC236}">
                <a16:creationId xmlns:a16="http://schemas.microsoft.com/office/drawing/2014/main" id="{8C0B187D-ECA9-4EB9-84D7-B1384DB199A3}"/>
              </a:ext>
            </a:extLst>
          </p:cNvPr>
          <p:cNvSpPr>
            <a:spLocks noGrp="1"/>
          </p:cNvSpPr>
          <p:nvPr/>
        </p:nvSpPr>
        <p:spPr>
          <a:xfrm>
            <a:off x="4419600" y="1828800"/>
            <a:ext cx="3352800" cy="3105150"/>
          </a:xfrm>
          <a:prstGeom prst="roundRect">
            <a:avLst>
              <a:gd name="adj" fmla="val 5521"/>
            </a:avLst>
          </a:prstGeom>
          <a:solidFill>
            <a:srgbClr val="EAF7F5"/>
          </a:solidFill>
          <a:ln w="0">
            <a:noFill/>
            <a:prstDash val="solid"/>
          </a:ln>
        </p:spPr>
      </p:sp>
      <p:sp>
        <p:nvSpPr>
          <p:cNvPr id="15" name="Rechteck 14">
            <a:extLst>
              <a:ext uri="{FF2B5EF4-FFF2-40B4-BE49-F238E27FC236}">
                <a16:creationId xmlns:a16="http://schemas.microsoft.com/office/drawing/2014/main" id="{4051DAFD-152F-4D5D-BA74-62AC6189D2E7}"/>
              </a:ext>
            </a:extLst>
          </p:cNvPr>
          <p:cNvSpPr>
            <a:spLocks noGrp="1"/>
          </p:cNvSpPr>
          <p:nvPr/>
        </p:nvSpPr>
        <p:spPr>
          <a:xfrm>
            <a:off x="4686300" y="2114550"/>
            <a:ext cx="28194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CHANGE PROPOSAL</a:t>
            </a:r>
          </a:p>
        </p:txBody>
      </p:sp>
      <p:sp>
        <p:nvSpPr>
          <p:cNvPr id="16" name="Rechteck 15">
            <a:extLst>
              <a:ext uri="{FF2B5EF4-FFF2-40B4-BE49-F238E27FC236}">
                <a16:creationId xmlns:a16="http://schemas.microsoft.com/office/drawing/2014/main" id="{86173D29-58E6-467E-AF7B-7F2CB84474CF}"/>
              </a:ext>
            </a:extLst>
          </p:cNvPr>
          <p:cNvSpPr>
            <a:spLocks noGrp="1"/>
          </p:cNvSpPr>
          <p:nvPr/>
        </p:nvSpPr>
        <p:spPr>
          <a:xfrm>
            <a:off x="4686300" y="2609850"/>
            <a:ext cx="2819400" cy="552450"/>
          </a:xfrm>
          <a:prstGeom prst="rect">
            <a:avLst/>
          </a:prstGeom>
          <a:noFill/>
          <a:ln w="0">
            <a:noFill/>
            <a:prstDash val="solid"/>
          </a:ln>
        </p:spPr>
        <p:txBody>
          <a:bodyPr wrap="square" lIns="0" tIns="0" rIns="0" bIns="0" anchor="t">
            <a:normAutofit/>
          </a:bodyPr>
          <a:lstStyle/>
          <a:p>
            <a:pPr algn="l">
              <a:defRPr sz="2625" b="1" i="0">
                <a:solidFill>
                  <a:srgbClr val="000020"/>
                </a:solidFill>
              </a:defRPr>
            </a:pPr>
            <a:r>
              <a:rPr sz="2625" b="1" i="0">
                <a:solidFill>
                  <a:srgbClr val="000020"/>
                </a:solidFill>
              </a:rPr>
              <a:t>Ändern</a:t>
            </a:r>
          </a:p>
        </p:txBody>
      </p:sp>
      <p:sp>
        <p:nvSpPr>
          <p:cNvPr id="17" name="Rechteck 16">
            <a:extLst>
              <a:ext uri="{FF2B5EF4-FFF2-40B4-BE49-F238E27FC236}">
                <a16:creationId xmlns:a16="http://schemas.microsoft.com/office/drawing/2014/main" id="{3E45E4A4-8EDE-4BDE-8955-B9483F3B547D}"/>
              </a:ext>
            </a:extLst>
          </p:cNvPr>
          <p:cNvSpPr>
            <a:spLocks noGrp="1"/>
          </p:cNvSpPr>
          <p:nvPr/>
        </p:nvSpPr>
        <p:spPr>
          <a:xfrm>
            <a:off x="4686300" y="3429000"/>
            <a:ext cx="2819400" cy="10668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Config oder Vault-Markdown isoliert patchen und validieren.</a:t>
            </a:r>
          </a:p>
        </p:txBody>
      </p:sp>
      <p:sp>
        <p:nvSpPr>
          <p:cNvPr id="18" name="Rechteck 17">
            <a:extLst>
              <a:ext uri="{FF2B5EF4-FFF2-40B4-BE49-F238E27FC236}">
                <a16:creationId xmlns:a16="http://schemas.microsoft.com/office/drawing/2014/main" id="{B6051037-8261-446E-BAA5-647EAC10C818}"/>
              </a:ext>
            </a:extLst>
          </p:cNvPr>
          <p:cNvSpPr>
            <a:spLocks noGrp="1"/>
          </p:cNvSpPr>
          <p:nvPr/>
        </p:nvSpPr>
        <p:spPr>
          <a:xfrm>
            <a:off x="4686300" y="5619750"/>
            <a:ext cx="952500" cy="285750"/>
          </a:xfrm>
          <a:prstGeom prst="rect">
            <a:avLst/>
          </a:prstGeom>
          <a:noFill/>
          <a:ln w="0">
            <a:noFill/>
            <a:prstDash val="solid"/>
          </a:ln>
        </p:spPr>
        <p:txBody>
          <a:bodyPr wrap="square" lIns="0" tIns="0" rIns="0" bIns="0" anchor="t">
            <a:normAutofit/>
          </a:bodyPr>
          <a:lstStyle/>
          <a:p>
            <a:pPr algn="l">
              <a:defRPr sz="1350" b="1" i="0">
                <a:solidFill>
                  <a:srgbClr val="0A6156"/>
                </a:solidFill>
              </a:defRPr>
            </a:pPr>
            <a:r>
              <a:rPr sz="1350" b="1" i="0">
                <a:solidFill>
                  <a:srgbClr val="0A6156"/>
                </a:solidFill>
              </a:rPr>
              <a:t>02</a:t>
            </a:r>
          </a:p>
        </p:txBody>
      </p:sp>
      <p:sp>
        <p:nvSpPr>
          <p:cNvPr id="19" name="Rechteck: abgerundete Ecken 18">
            <a:extLst>
              <a:ext uri="{FF2B5EF4-FFF2-40B4-BE49-F238E27FC236}">
                <a16:creationId xmlns:a16="http://schemas.microsoft.com/office/drawing/2014/main" id="{81016F34-92CA-4FC9-8F30-B6AF8BC3A6D0}"/>
              </a:ext>
            </a:extLst>
          </p:cNvPr>
          <p:cNvSpPr>
            <a:spLocks noGrp="1"/>
          </p:cNvSpPr>
          <p:nvPr/>
        </p:nvSpPr>
        <p:spPr>
          <a:xfrm>
            <a:off x="8229600" y="1828800"/>
            <a:ext cx="3352800" cy="3105150"/>
          </a:xfrm>
          <a:prstGeom prst="roundRect">
            <a:avLst>
              <a:gd name="adj" fmla="val 5521"/>
            </a:avLst>
          </a:prstGeom>
          <a:solidFill>
            <a:srgbClr val="F6F6F4"/>
          </a:solidFill>
          <a:ln w="0">
            <a:noFill/>
            <a:prstDash val="solid"/>
          </a:ln>
        </p:spPr>
      </p:sp>
      <p:sp>
        <p:nvSpPr>
          <p:cNvPr id="20" name="Rechteck 19">
            <a:extLst>
              <a:ext uri="{FF2B5EF4-FFF2-40B4-BE49-F238E27FC236}">
                <a16:creationId xmlns:a16="http://schemas.microsoft.com/office/drawing/2014/main" id="{D7D9F762-7B4A-4B6A-B197-AA744029368F}"/>
              </a:ext>
            </a:extLst>
          </p:cNvPr>
          <p:cNvSpPr>
            <a:spLocks noGrp="1"/>
          </p:cNvSpPr>
          <p:nvPr/>
        </p:nvSpPr>
        <p:spPr>
          <a:xfrm>
            <a:off x="8496300" y="2114550"/>
            <a:ext cx="2819400" cy="209550"/>
          </a:xfrm>
          <a:prstGeom prst="rect">
            <a:avLst/>
          </a:prstGeom>
          <a:noFill/>
          <a:ln w="0">
            <a:noFill/>
            <a:prstDash val="solid"/>
          </a:ln>
        </p:spPr>
        <p:txBody>
          <a:bodyPr wrap="square" lIns="0" tIns="0" rIns="0" bIns="0" anchor="t">
            <a:normAutofit/>
          </a:bodyPr>
          <a:lstStyle/>
          <a:p>
            <a:pPr algn="l">
              <a:defRPr sz="1050" b="1" i="0">
                <a:solidFill>
                  <a:srgbClr val="93C01C"/>
                </a:solidFill>
              </a:defRPr>
            </a:pPr>
            <a:r>
              <a:rPr sz="1050" b="1" i="0">
                <a:solidFill>
                  <a:srgbClr val="93C01C"/>
                </a:solidFill>
              </a:rPr>
              <a:t>V1 PILOT</a:t>
            </a:r>
          </a:p>
        </p:txBody>
      </p:sp>
      <p:sp>
        <p:nvSpPr>
          <p:cNvPr id="21" name="Rechteck 20">
            <a:extLst>
              <a:ext uri="{FF2B5EF4-FFF2-40B4-BE49-F238E27FC236}">
                <a16:creationId xmlns:a16="http://schemas.microsoft.com/office/drawing/2014/main" id="{7931BDC3-FDC0-411A-924D-A8D3A3EB27B1}"/>
              </a:ext>
            </a:extLst>
          </p:cNvPr>
          <p:cNvSpPr>
            <a:spLocks noGrp="1"/>
          </p:cNvSpPr>
          <p:nvPr/>
        </p:nvSpPr>
        <p:spPr>
          <a:xfrm>
            <a:off x="8496300" y="2609850"/>
            <a:ext cx="2819400" cy="552450"/>
          </a:xfrm>
          <a:prstGeom prst="rect">
            <a:avLst/>
          </a:prstGeom>
          <a:noFill/>
          <a:ln w="0">
            <a:noFill/>
            <a:prstDash val="solid"/>
          </a:ln>
        </p:spPr>
        <p:txBody>
          <a:bodyPr wrap="square" lIns="0" tIns="0" rIns="0" bIns="0" anchor="t">
            <a:normAutofit/>
          </a:bodyPr>
          <a:lstStyle/>
          <a:p>
            <a:pPr algn="l">
              <a:defRPr sz="2625" b="1" i="0">
                <a:solidFill>
                  <a:srgbClr val="000020"/>
                </a:solidFill>
              </a:defRPr>
            </a:pPr>
            <a:r>
              <a:rPr sz="2625" b="1" i="0">
                <a:solidFill>
                  <a:srgbClr val="000020"/>
                </a:solidFill>
              </a:rPr>
              <a:t>Veröffentlichen</a:t>
            </a:r>
          </a:p>
        </p:txBody>
      </p:sp>
      <p:sp>
        <p:nvSpPr>
          <p:cNvPr id="22" name="Rechteck 21">
            <a:extLst>
              <a:ext uri="{FF2B5EF4-FFF2-40B4-BE49-F238E27FC236}">
                <a16:creationId xmlns:a16="http://schemas.microsoft.com/office/drawing/2014/main" id="{D00100DF-99F0-4A82-B20F-10DE8AF38376}"/>
              </a:ext>
            </a:extLst>
          </p:cNvPr>
          <p:cNvSpPr>
            <a:spLocks noGrp="1"/>
          </p:cNvSpPr>
          <p:nvPr/>
        </p:nvSpPr>
        <p:spPr>
          <a:xfrm>
            <a:off x="8496300" y="3429000"/>
            <a:ext cx="2819400" cy="10668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Bot-Branch und Merge Request – die Review bleibt menschlich.</a:t>
            </a:r>
          </a:p>
        </p:txBody>
      </p:sp>
      <p:sp>
        <p:nvSpPr>
          <p:cNvPr id="23" name="Rechteck 22">
            <a:extLst>
              <a:ext uri="{FF2B5EF4-FFF2-40B4-BE49-F238E27FC236}">
                <a16:creationId xmlns:a16="http://schemas.microsoft.com/office/drawing/2014/main" id="{1E3EE095-08A6-4DDE-A4BA-B4CDD6B56C11}"/>
              </a:ext>
            </a:extLst>
          </p:cNvPr>
          <p:cNvSpPr>
            <a:spLocks noGrp="1"/>
          </p:cNvSpPr>
          <p:nvPr/>
        </p:nvSpPr>
        <p:spPr>
          <a:xfrm>
            <a:off x="8496300" y="5619750"/>
            <a:ext cx="952500" cy="285750"/>
          </a:xfrm>
          <a:prstGeom prst="rect">
            <a:avLst/>
          </a:prstGeom>
          <a:noFill/>
          <a:ln w="0">
            <a:noFill/>
            <a:prstDash val="solid"/>
          </a:ln>
        </p:spPr>
        <p:txBody>
          <a:bodyPr wrap="square" lIns="0" tIns="0" rIns="0" bIns="0" anchor="t">
            <a:normAutofit/>
          </a:bodyPr>
          <a:lstStyle/>
          <a:p>
            <a:pPr algn="l">
              <a:defRPr sz="1350" b="1" i="0">
                <a:solidFill>
                  <a:srgbClr val="0A6156"/>
                </a:solidFill>
              </a:defRPr>
            </a:pPr>
            <a:r>
              <a:rPr sz="1350" b="1" i="0">
                <a:solidFill>
                  <a:srgbClr val="0A6156"/>
                </a:solidFill>
              </a:rPr>
              <a:t>03</a:t>
            </a:r>
          </a:p>
        </p:txBody>
      </p:sp>
    </p:spTree>
    <p:extLst>
      <p:ext uri="{BB962C8B-B14F-4D97-AF65-F5344CB8AC3E}">
        <p14:creationId xmlns:p14="http://schemas.microsoft.com/office/powerpoint/2010/main" val="1957344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C0FB5DB2-02F9-45F8-915E-B7E9984FFCCF}"/>
              </a:ext>
            </a:extLst>
          </p:cNvPr>
          <p:cNvSpPr>
            <a:spLocks noGrp="1"/>
          </p:cNvSpPr>
          <p:nvPr/>
        </p:nvSpPr>
        <p:spPr>
          <a:xfrm>
            <a:off x="609600" y="361950"/>
            <a:ext cx="4000500" cy="209550"/>
          </a:xfrm>
          <a:prstGeom prst="rect">
            <a:avLst/>
          </a:prstGeom>
          <a:noFill/>
          <a:ln w="0">
            <a:noFill/>
            <a:prstDash val="solid"/>
          </a:ln>
        </p:spPr>
        <p:txBody>
          <a:bodyPr wrap="square" lIns="0" tIns="0" rIns="0" bIns="0" anchor="t">
            <a:normAutofit/>
          </a:bodyPr>
          <a:lstStyle/>
          <a:p>
            <a:pPr algn="l">
              <a:defRPr sz="1050" b="1" i="0">
                <a:solidFill>
                  <a:srgbClr val="0A6156"/>
                </a:solidFill>
              </a:defRPr>
            </a:pPr>
            <a:r>
              <a:rPr sz="1050" b="1" i="0">
                <a:solidFill>
                  <a:srgbClr val="0A6156"/>
                </a:solidFill>
              </a:rPr>
              <a:t>WARUM DAS ZÄHLT</a:t>
            </a:r>
          </a:p>
        </p:txBody>
      </p:sp>
      <p:sp>
        <p:nvSpPr>
          <p:cNvPr id="2" name="Rechteck 1">
            <a:extLst>
              <a:ext uri="{FF2B5EF4-FFF2-40B4-BE49-F238E27FC236}">
                <a16:creationId xmlns:a16="http://schemas.microsoft.com/office/drawing/2014/main" id="{090DF284-51F4-4938-8E25-609836D3652B}"/>
              </a:ext>
            </a:extLst>
          </p:cNvPr>
          <p:cNvSpPr>
            <a:spLocks noGrp="1"/>
          </p:cNvSpPr>
          <p:nvPr/>
        </p:nvSpPr>
        <p:spPr>
          <a:xfrm>
            <a:off x="609600" y="723900"/>
            <a:ext cx="10572750" cy="895350"/>
          </a:xfrm>
          <a:prstGeom prst="rect">
            <a:avLst/>
          </a:prstGeom>
          <a:noFill/>
          <a:ln w="0">
            <a:noFill/>
            <a:prstDash val="solid"/>
          </a:ln>
        </p:spPr>
        <p:txBody>
          <a:bodyPr wrap="square" lIns="0" tIns="0" rIns="0" bIns="0" anchor="t">
            <a:normAutofit/>
          </a:bodyPr>
          <a:lstStyle/>
          <a:p>
            <a:pPr algn="l">
              <a:defRPr sz="3000" b="1" i="0">
                <a:solidFill>
                  <a:srgbClr val="000020"/>
                </a:solidFill>
              </a:defRPr>
            </a:pPr>
            <a:r>
              <a:rPr sz="3000" b="1" i="0">
                <a:solidFill>
                  <a:srgbClr val="000020"/>
                </a:solidFill>
              </a:rPr>
              <a:t>PatchPony ist ein Multiplikator für unsere gesamte Produktwelt.</a:t>
            </a:r>
          </a:p>
        </p:txBody>
      </p:sp>
      <p:sp>
        <p:nvSpPr>
          <p:cNvPr id="3" name="Rechteck 2">
            <a:extLst>
              <a:ext uri="{FF2B5EF4-FFF2-40B4-BE49-F238E27FC236}">
                <a16:creationId xmlns:a16="http://schemas.microsoft.com/office/drawing/2014/main" id="{117B9982-EF77-4D7F-A432-B4CB47789564}"/>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5D626B"/>
                </a:solidFill>
              </a:defRPr>
            </a:pPr>
            <a:r>
              <a:rPr sz="975" b="0" i="0">
                <a:solidFill>
                  <a:srgbClr val="5D626B"/>
                </a:solidFill>
              </a:rPr>
              <a:t>destination.one · one.award</a:t>
            </a:r>
          </a:p>
        </p:txBody>
      </p:sp>
      <p:sp>
        <p:nvSpPr>
          <p:cNvPr id="4" name="Rechteck 3">
            <a:extLst>
              <a:ext uri="{FF2B5EF4-FFF2-40B4-BE49-F238E27FC236}">
                <a16:creationId xmlns:a16="http://schemas.microsoft.com/office/drawing/2014/main" id="{C31C8523-CA8A-4F3E-9210-4A2202B56C17}"/>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5D626B"/>
                </a:solidFill>
              </a:defRPr>
            </a:pPr>
            <a:r>
              <a:rPr sz="975" b="0" i="0">
                <a:solidFill>
                  <a:srgbClr val="5D626B"/>
                </a:solidFill>
              </a:rPr>
              <a:t>10</a:t>
            </a:r>
          </a:p>
        </p:txBody>
      </p:sp>
      <p:sp>
        <p:nvSpPr>
          <p:cNvPr id="5" name="Rechteck 4">
            <a:extLst>
              <a:ext uri="{FF2B5EF4-FFF2-40B4-BE49-F238E27FC236}">
                <a16:creationId xmlns:a16="http://schemas.microsoft.com/office/drawing/2014/main" id="{C406E691-FF21-4FEE-BFE7-ECDEDBBD639E}"/>
              </a:ext>
            </a:extLst>
          </p:cNvPr>
          <p:cNvSpPr>
            <a:spLocks noGrp="1"/>
          </p:cNvSpPr>
          <p:nvPr/>
        </p:nvSpPr>
        <p:spPr>
          <a:xfrm>
            <a:off x="609600" y="2095500"/>
            <a:ext cx="3200400" cy="514350"/>
          </a:xfrm>
          <a:prstGeom prst="rect">
            <a:avLst/>
          </a:prstGeom>
          <a:noFill/>
          <a:ln w="0">
            <a:noFill/>
            <a:prstDash val="solid"/>
          </a:ln>
        </p:spPr>
        <p:txBody>
          <a:bodyPr wrap="square" lIns="0" tIns="0" rIns="0" bIns="0" anchor="t">
            <a:normAutofit/>
          </a:bodyPr>
          <a:lstStyle/>
          <a:p>
            <a:pPr algn="l">
              <a:defRPr sz="3000" b="1" i="0">
                <a:solidFill>
                  <a:srgbClr val="93C01C"/>
                </a:solidFill>
              </a:defRPr>
            </a:pPr>
            <a:r>
              <a:rPr sz="3000" b="1" i="0">
                <a:solidFill>
                  <a:srgbClr val="93C01C"/>
                </a:solidFill>
              </a:rPr>
              <a:t>01</a:t>
            </a:r>
          </a:p>
        </p:txBody>
      </p:sp>
      <p:sp>
        <p:nvSpPr>
          <p:cNvPr id="6" name="Rechteck 5">
            <a:extLst>
              <a:ext uri="{FF2B5EF4-FFF2-40B4-BE49-F238E27FC236}">
                <a16:creationId xmlns:a16="http://schemas.microsoft.com/office/drawing/2014/main" id="{998D392C-D94B-4609-BD49-283892A5E195}"/>
              </a:ext>
            </a:extLst>
          </p:cNvPr>
          <p:cNvSpPr>
            <a:spLocks noGrp="1"/>
          </p:cNvSpPr>
          <p:nvPr/>
        </p:nvSpPr>
        <p:spPr>
          <a:xfrm>
            <a:off x="609600" y="2781300"/>
            <a:ext cx="3200400" cy="47625"/>
          </a:xfrm>
          <a:prstGeom prst="rect">
            <a:avLst/>
          </a:prstGeom>
          <a:solidFill>
            <a:srgbClr val="93C01C"/>
          </a:solidFill>
          <a:ln w="0">
            <a:noFill/>
            <a:prstDash val="solid"/>
          </a:ln>
        </p:spPr>
      </p:sp>
      <p:sp>
        <p:nvSpPr>
          <p:cNvPr id="7" name="Rechteck 6">
            <a:extLst>
              <a:ext uri="{FF2B5EF4-FFF2-40B4-BE49-F238E27FC236}">
                <a16:creationId xmlns:a16="http://schemas.microsoft.com/office/drawing/2014/main" id="{DC6D8A4B-463E-45DE-91ED-87B222342FE4}"/>
              </a:ext>
            </a:extLst>
          </p:cNvPr>
          <p:cNvSpPr>
            <a:spLocks noGrp="1"/>
          </p:cNvSpPr>
          <p:nvPr/>
        </p:nvSpPr>
        <p:spPr>
          <a:xfrm>
            <a:off x="609600" y="3143250"/>
            <a:ext cx="3200400" cy="685800"/>
          </a:xfrm>
          <a:prstGeom prst="rect">
            <a:avLst/>
          </a:prstGeom>
          <a:noFill/>
          <a:ln w="0">
            <a:noFill/>
            <a:prstDash val="solid"/>
          </a:ln>
        </p:spPr>
        <p:txBody>
          <a:bodyPr wrap="square" lIns="0" tIns="0" rIns="0" bIns="0" anchor="t">
            <a:normAutofit/>
          </a:bodyPr>
          <a:lstStyle/>
          <a:p>
            <a:pPr algn="l">
              <a:defRPr sz="2100" b="1" i="0">
                <a:solidFill>
                  <a:srgbClr val="000020"/>
                </a:solidFill>
              </a:defRPr>
            </a:pPr>
            <a:r>
              <a:rPr sz="2100" b="1" i="0">
                <a:solidFill>
                  <a:srgbClr val="000020"/>
                </a:solidFill>
              </a:rPr>
              <a:t>Wissen wird nutzbar</a:t>
            </a:r>
          </a:p>
        </p:txBody>
      </p:sp>
      <p:sp>
        <p:nvSpPr>
          <p:cNvPr id="8" name="Rechteck 7">
            <a:extLst>
              <a:ext uri="{FF2B5EF4-FFF2-40B4-BE49-F238E27FC236}">
                <a16:creationId xmlns:a16="http://schemas.microsoft.com/office/drawing/2014/main" id="{396AB2F8-260D-47C6-BBEA-AC106EF672F6}"/>
              </a:ext>
            </a:extLst>
          </p:cNvPr>
          <p:cNvSpPr>
            <a:spLocks noGrp="1"/>
          </p:cNvSpPr>
          <p:nvPr/>
        </p:nvSpPr>
        <p:spPr>
          <a:xfrm>
            <a:off x="609600" y="4038600"/>
            <a:ext cx="3200400" cy="12573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Der Git-versionierte Obsidian-Vault bringt Modul- und Firmenwissen dorthin, wo Fragen entstehen.</a:t>
            </a:r>
          </a:p>
        </p:txBody>
      </p:sp>
      <p:sp>
        <p:nvSpPr>
          <p:cNvPr id="9" name="Rechteck 8">
            <a:extLst>
              <a:ext uri="{FF2B5EF4-FFF2-40B4-BE49-F238E27FC236}">
                <a16:creationId xmlns:a16="http://schemas.microsoft.com/office/drawing/2014/main" id="{8BA6793E-AB65-41CB-8628-CD9C3A12D960}"/>
              </a:ext>
            </a:extLst>
          </p:cNvPr>
          <p:cNvSpPr>
            <a:spLocks noGrp="1"/>
          </p:cNvSpPr>
          <p:nvPr/>
        </p:nvSpPr>
        <p:spPr>
          <a:xfrm>
            <a:off x="4305300" y="2095500"/>
            <a:ext cx="3200400" cy="514350"/>
          </a:xfrm>
          <a:prstGeom prst="rect">
            <a:avLst/>
          </a:prstGeom>
          <a:noFill/>
          <a:ln w="0">
            <a:noFill/>
            <a:prstDash val="solid"/>
          </a:ln>
        </p:spPr>
        <p:txBody>
          <a:bodyPr wrap="square" lIns="0" tIns="0" rIns="0" bIns="0" anchor="t">
            <a:normAutofit/>
          </a:bodyPr>
          <a:lstStyle/>
          <a:p>
            <a:pPr algn="l">
              <a:defRPr sz="3000" b="1" i="0">
                <a:solidFill>
                  <a:srgbClr val="0A6156"/>
                </a:solidFill>
              </a:defRPr>
            </a:pPr>
            <a:r>
              <a:rPr sz="3000" b="1" i="0">
                <a:solidFill>
                  <a:srgbClr val="0A6156"/>
                </a:solidFill>
              </a:rPr>
              <a:t>02</a:t>
            </a:r>
          </a:p>
        </p:txBody>
      </p:sp>
      <p:sp>
        <p:nvSpPr>
          <p:cNvPr id="10" name="Rechteck 9">
            <a:extLst>
              <a:ext uri="{FF2B5EF4-FFF2-40B4-BE49-F238E27FC236}">
                <a16:creationId xmlns:a16="http://schemas.microsoft.com/office/drawing/2014/main" id="{20ADE0A7-1D48-422A-8342-340FDCA56FC9}"/>
              </a:ext>
            </a:extLst>
          </p:cNvPr>
          <p:cNvSpPr>
            <a:spLocks noGrp="1"/>
          </p:cNvSpPr>
          <p:nvPr/>
        </p:nvSpPr>
        <p:spPr>
          <a:xfrm>
            <a:off x="4305300" y="2781300"/>
            <a:ext cx="3200400" cy="47625"/>
          </a:xfrm>
          <a:prstGeom prst="rect">
            <a:avLst/>
          </a:prstGeom>
          <a:solidFill>
            <a:srgbClr val="0A6156"/>
          </a:solidFill>
          <a:ln w="0">
            <a:noFill/>
            <a:prstDash val="solid"/>
          </a:ln>
        </p:spPr>
      </p:sp>
      <p:sp>
        <p:nvSpPr>
          <p:cNvPr id="11" name="Rechteck 10">
            <a:extLst>
              <a:ext uri="{FF2B5EF4-FFF2-40B4-BE49-F238E27FC236}">
                <a16:creationId xmlns:a16="http://schemas.microsoft.com/office/drawing/2014/main" id="{49605952-B297-4C87-B405-6ABA8BB6A510}"/>
              </a:ext>
            </a:extLst>
          </p:cNvPr>
          <p:cNvSpPr>
            <a:spLocks noGrp="1"/>
          </p:cNvSpPr>
          <p:nvPr/>
        </p:nvSpPr>
        <p:spPr>
          <a:xfrm>
            <a:off x="4305300" y="3143250"/>
            <a:ext cx="3200400" cy="685800"/>
          </a:xfrm>
          <a:prstGeom prst="rect">
            <a:avLst/>
          </a:prstGeom>
          <a:noFill/>
          <a:ln w="0">
            <a:noFill/>
            <a:prstDash val="solid"/>
          </a:ln>
        </p:spPr>
        <p:txBody>
          <a:bodyPr wrap="square" lIns="0" tIns="0" rIns="0" bIns="0" anchor="t">
            <a:normAutofit/>
          </a:bodyPr>
          <a:lstStyle/>
          <a:p>
            <a:pPr algn="l">
              <a:defRPr sz="2100" b="1" i="0">
                <a:solidFill>
                  <a:srgbClr val="000020"/>
                </a:solidFill>
              </a:defRPr>
            </a:pPr>
            <a:r>
              <a:rPr sz="2100" b="1" i="0">
                <a:solidFill>
                  <a:srgbClr val="000020"/>
                </a:solidFill>
              </a:rPr>
              <a:t>Kleine Themen fließen</a:t>
            </a:r>
          </a:p>
        </p:txBody>
      </p:sp>
      <p:sp>
        <p:nvSpPr>
          <p:cNvPr id="12" name="Rechteck 11">
            <a:extLst>
              <a:ext uri="{FF2B5EF4-FFF2-40B4-BE49-F238E27FC236}">
                <a16:creationId xmlns:a16="http://schemas.microsoft.com/office/drawing/2014/main" id="{B8EA734C-0F3E-48AD-90BD-93C6DA949EEE}"/>
              </a:ext>
            </a:extLst>
          </p:cNvPr>
          <p:cNvSpPr>
            <a:spLocks noGrp="1"/>
          </p:cNvSpPr>
          <p:nvPr/>
        </p:nvSpPr>
        <p:spPr>
          <a:xfrm>
            <a:off x="4305300" y="4038600"/>
            <a:ext cx="3200400" cy="12573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Weniger Übergaben zwischen Meldung, Suche, Änderung, Validierung und Review.</a:t>
            </a:r>
          </a:p>
        </p:txBody>
      </p:sp>
      <p:sp>
        <p:nvSpPr>
          <p:cNvPr id="13" name="Rechteck 12">
            <a:extLst>
              <a:ext uri="{FF2B5EF4-FFF2-40B4-BE49-F238E27FC236}">
                <a16:creationId xmlns:a16="http://schemas.microsoft.com/office/drawing/2014/main" id="{CB722B5C-AE2D-4967-AA11-29361B84D499}"/>
              </a:ext>
            </a:extLst>
          </p:cNvPr>
          <p:cNvSpPr>
            <a:spLocks noGrp="1"/>
          </p:cNvSpPr>
          <p:nvPr/>
        </p:nvSpPr>
        <p:spPr>
          <a:xfrm>
            <a:off x="8001000" y="2095500"/>
            <a:ext cx="3200400" cy="514350"/>
          </a:xfrm>
          <a:prstGeom prst="rect">
            <a:avLst/>
          </a:prstGeom>
          <a:noFill/>
          <a:ln w="0">
            <a:noFill/>
            <a:prstDash val="solid"/>
          </a:ln>
        </p:spPr>
        <p:txBody>
          <a:bodyPr wrap="square" lIns="0" tIns="0" rIns="0" bIns="0" anchor="t">
            <a:normAutofit/>
          </a:bodyPr>
          <a:lstStyle/>
          <a:p>
            <a:pPr algn="l">
              <a:defRPr sz="3000" b="1" i="0">
                <a:solidFill>
                  <a:srgbClr val="93C01C"/>
                </a:solidFill>
              </a:defRPr>
            </a:pPr>
            <a:r>
              <a:rPr sz="3000" b="1" i="0">
                <a:solidFill>
                  <a:srgbClr val="93C01C"/>
                </a:solidFill>
              </a:rPr>
              <a:t>03</a:t>
            </a:r>
          </a:p>
        </p:txBody>
      </p:sp>
      <p:sp>
        <p:nvSpPr>
          <p:cNvPr id="14" name="Rechteck 13">
            <a:extLst>
              <a:ext uri="{FF2B5EF4-FFF2-40B4-BE49-F238E27FC236}">
                <a16:creationId xmlns:a16="http://schemas.microsoft.com/office/drawing/2014/main" id="{24A1741E-86B9-404D-B8E5-54EC54B0F0C1}"/>
              </a:ext>
            </a:extLst>
          </p:cNvPr>
          <p:cNvSpPr>
            <a:spLocks noGrp="1"/>
          </p:cNvSpPr>
          <p:nvPr/>
        </p:nvSpPr>
        <p:spPr>
          <a:xfrm>
            <a:off x="8001000" y="2781300"/>
            <a:ext cx="3200400" cy="47625"/>
          </a:xfrm>
          <a:prstGeom prst="rect">
            <a:avLst/>
          </a:prstGeom>
          <a:solidFill>
            <a:srgbClr val="93C01C"/>
          </a:solidFill>
          <a:ln w="0">
            <a:noFill/>
            <a:prstDash val="solid"/>
          </a:ln>
        </p:spPr>
      </p:sp>
      <p:sp>
        <p:nvSpPr>
          <p:cNvPr id="15" name="Rechteck 14">
            <a:extLst>
              <a:ext uri="{FF2B5EF4-FFF2-40B4-BE49-F238E27FC236}">
                <a16:creationId xmlns:a16="http://schemas.microsoft.com/office/drawing/2014/main" id="{401A28C3-442C-4B0C-8C62-2ACBD719121A}"/>
              </a:ext>
            </a:extLst>
          </p:cNvPr>
          <p:cNvSpPr>
            <a:spLocks noGrp="1"/>
          </p:cNvSpPr>
          <p:nvPr/>
        </p:nvSpPr>
        <p:spPr>
          <a:xfrm>
            <a:off x="8001000" y="3143250"/>
            <a:ext cx="3200400" cy="685800"/>
          </a:xfrm>
          <a:prstGeom prst="rect">
            <a:avLst/>
          </a:prstGeom>
          <a:noFill/>
          <a:ln w="0">
            <a:noFill/>
            <a:prstDash val="solid"/>
          </a:ln>
        </p:spPr>
        <p:txBody>
          <a:bodyPr wrap="square" lIns="0" tIns="0" rIns="0" bIns="0" anchor="t">
            <a:normAutofit/>
          </a:bodyPr>
          <a:lstStyle/>
          <a:p>
            <a:pPr algn="l">
              <a:defRPr sz="2100" b="1" i="0">
                <a:solidFill>
                  <a:srgbClr val="000020"/>
                </a:solidFill>
              </a:defRPr>
            </a:pPr>
            <a:r>
              <a:rPr sz="2100" b="1" i="0">
                <a:solidFill>
                  <a:srgbClr val="000020"/>
                </a:solidFill>
              </a:rPr>
              <a:t>KI wird verantwortbar</a:t>
            </a:r>
          </a:p>
        </p:txBody>
      </p:sp>
      <p:sp>
        <p:nvSpPr>
          <p:cNvPr id="16" name="Rechteck 15">
            <a:extLst>
              <a:ext uri="{FF2B5EF4-FFF2-40B4-BE49-F238E27FC236}">
                <a16:creationId xmlns:a16="http://schemas.microsoft.com/office/drawing/2014/main" id="{CA50802A-A5C8-4B89-B341-A52F3811407F}"/>
              </a:ext>
            </a:extLst>
          </p:cNvPr>
          <p:cNvSpPr>
            <a:spLocks noGrp="1"/>
          </p:cNvSpPr>
          <p:nvPr/>
        </p:nvSpPr>
        <p:spPr>
          <a:xfrm>
            <a:off x="8001000" y="4038600"/>
            <a:ext cx="3200400" cy="1257300"/>
          </a:xfrm>
          <a:prstGeom prst="rect">
            <a:avLst/>
          </a:prstGeom>
          <a:noFill/>
          <a:ln w="0">
            <a:noFill/>
            <a:prstDash val="solid"/>
          </a:ln>
        </p:spPr>
        <p:txBody>
          <a:bodyPr wrap="square" lIns="0" tIns="0" rIns="0" bIns="0" anchor="t">
            <a:normAutofit/>
          </a:bodyPr>
          <a:lstStyle/>
          <a:p>
            <a:pPr algn="l">
              <a:defRPr sz="1500" b="0" i="0">
                <a:solidFill>
                  <a:srgbClr val="5D626B"/>
                </a:solidFill>
              </a:defRPr>
            </a:pPr>
            <a:r>
              <a:rPr sz="1500" b="0" i="0">
                <a:solidFill>
                  <a:srgbClr val="5D626B"/>
                </a:solidFill>
              </a:rPr>
              <a:t>Eine wiederverwendbare Sicherheitsbasis statt einzelner Bots mit Sonderrechten.</a:t>
            </a:r>
          </a:p>
        </p:txBody>
      </p:sp>
      <p:sp>
        <p:nvSpPr>
          <p:cNvPr id="17" name="Rechteck 16">
            <a:extLst>
              <a:ext uri="{FF2B5EF4-FFF2-40B4-BE49-F238E27FC236}">
                <a16:creationId xmlns:a16="http://schemas.microsoft.com/office/drawing/2014/main" id="{F53417BE-B959-4A5D-A8B2-0CDB78B7B5EE}"/>
              </a:ext>
            </a:extLst>
          </p:cNvPr>
          <p:cNvSpPr>
            <a:spLocks noGrp="1"/>
          </p:cNvSpPr>
          <p:nvPr/>
        </p:nvSpPr>
        <p:spPr>
          <a:xfrm>
            <a:off x="609600" y="5619750"/>
            <a:ext cx="10972800" cy="552450"/>
          </a:xfrm>
          <a:prstGeom prst="rect">
            <a:avLst/>
          </a:prstGeom>
          <a:solidFill>
            <a:srgbClr val="EAF7F5"/>
          </a:solidFill>
          <a:ln w="0">
            <a:noFill/>
            <a:prstDash val="solid"/>
          </a:ln>
        </p:spPr>
      </p:sp>
      <p:sp>
        <p:nvSpPr>
          <p:cNvPr id="18" name="Rechteck 17">
            <a:extLst>
              <a:ext uri="{FF2B5EF4-FFF2-40B4-BE49-F238E27FC236}">
                <a16:creationId xmlns:a16="http://schemas.microsoft.com/office/drawing/2014/main" id="{FCD9E456-8E64-433B-8509-7B48701E86B9}"/>
              </a:ext>
            </a:extLst>
          </p:cNvPr>
          <p:cNvSpPr>
            <a:spLocks noGrp="1"/>
          </p:cNvSpPr>
          <p:nvPr/>
        </p:nvSpPr>
        <p:spPr>
          <a:xfrm>
            <a:off x="914400" y="5772150"/>
            <a:ext cx="10363200" cy="285750"/>
          </a:xfrm>
          <a:prstGeom prst="rect">
            <a:avLst/>
          </a:prstGeom>
          <a:noFill/>
          <a:ln w="0">
            <a:noFill/>
            <a:prstDash val="solid"/>
          </a:ln>
        </p:spPr>
        <p:txBody>
          <a:bodyPr wrap="square" lIns="0" tIns="0" rIns="0" bIns="0" anchor="t">
            <a:normAutofit/>
          </a:bodyPr>
          <a:lstStyle/>
          <a:p>
            <a:pPr algn="ctr">
              <a:defRPr sz="1875" b="1" i="0">
                <a:solidFill>
                  <a:srgbClr val="06443D"/>
                </a:solidFill>
              </a:defRPr>
            </a:pPr>
            <a:r>
              <a:rPr sz="1875" b="1" i="0">
                <a:solidFill>
                  <a:srgbClr val="06443D"/>
                </a:solidFill>
              </a:rPr>
              <a:t>Einmal sauber gebaut, projektweise ausrollbar.</a:t>
            </a:r>
          </a:p>
        </p:txBody>
      </p:sp>
    </p:spTree>
    <p:extLst>
      <p:ext uri="{BB962C8B-B14F-4D97-AF65-F5344CB8AC3E}">
        <p14:creationId xmlns:p14="http://schemas.microsoft.com/office/powerpoint/2010/main" val="1628683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20"/>
        </a:solidFill>
        <a:effectLst/>
      </p:bgPr>
    </p:bg>
    <p:spTree>
      <p:nvGrpSpPr>
        <p:cNvPr id="1" name=""/>
        <p:cNvGrpSpPr/>
        <p:nvPr/>
      </p:nvGrpSpPr>
      <p:grpSpPr>
        <a:xfrm>
          <a:off x="0" y="0"/>
          <a:ext cx="0" cy="0"/>
          <a:chOff x="0" y="0"/>
          <a:chExt cx="0" cy="0"/>
        </a:xfrm>
      </p:grpSpPr>
      <p:pic>
        <p:nvPicPr>
          <p:cNvPr id="9" name="Grafik 8"/>
          <p:cNvPicPr>
            <a:picLocks noChangeAspect="1"/>
          </p:cNvPicPr>
          <p:nvPr/>
        </p:nvPicPr>
        <p:blipFill>
          <a:blip r:embed="rId3"/>
          <a:stretch/>
        </p:blipFill>
        <p:spPr>
          <a:xfrm>
            <a:off x="609600" y="543084"/>
            <a:ext cx="2609850" cy="304483"/>
          </a:xfrm>
          <a:prstGeom prst="rect">
            <a:avLst/>
          </a:prstGeom>
        </p:spPr>
      </p:pic>
      <p:sp>
        <p:nvSpPr>
          <p:cNvPr id="2" name="Rechteck 1">
            <a:extLst>
              <a:ext uri="{FF2B5EF4-FFF2-40B4-BE49-F238E27FC236}">
                <a16:creationId xmlns:a16="http://schemas.microsoft.com/office/drawing/2014/main" id="{31F438B7-035B-48F1-BB7E-F938D938418D}"/>
              </a:ext>
            </a:extLst>
          </p:cNvPr>
          <p:cNvSpPr>
            <a:spLocks noGrp="1"/>
          </p:cNvSpPr>
          <p:nvPr/>
        </p:nvSpPr>
        <p:spPr>
          <a:xfrm>
            <a:off x="609600" y="1466850"/>
            <a:ext cx="7239000" cy="285750"/>
          </a:xfrm>
          <a:prstGeom prst="rect">
            <a:avLst/>
          </a:prstGeom>
          <a:noFill/>
          <a:ln w="0">
            <a:noFill/>
            <a:prstDash val="solid"/>
          </a:ln>
        </p:spPr>
        <p:txBody>
          <a:bodyPr wrap="square" lIns="0" tIns="0" rIns="0" bIns="0" anchor="t">
            <a:normAutofit/>
          </a:bodyPr>
          <a:lstStyle/>
          <a:p>
            <a:pPr algn="l">
              <a:defRPr sz="1200" b="1" i="0">
                <a:solidFill>
                  <a:srgbClr val="93C01C"/>
                </a:solidFill>
              </a:defRPr>
            </a:pPr>
            <a:r>
              <a:rPr sz="1200" b="1" i="0">
                <a:solidFill>
                  <a:srgbClr val="93C01C"/>
                </a:solidFill>
              </a:rPr>
              <a:t>WARUM PATCHPONY DEN ONE.AWARD VERDIENT</a:t>
            </a:r>
          </a:p>
        </p:txBody>
      </p:sp>
      <p:sp>
        <p:nvSpPr>
          <p:cNvPr id="3" name="Rechteck 2">
            <a:extLst>
              <a:ext uri="{FF2B5EF4-FFF2-40B4-BE49-F238E27FC236}">
                <a16:creationId xmlns:a16="http://schemas.microsoft.com/office/drawing/2014/main" id="{7D97221C-1679-46A5-A314-88EB6FF2F21F}"/>
              </a:ext>
            </a:extLst>
          </p:cNvPr>
          <p:cNvSpPr>
            <a:spLocks noGrp="1"/>
          </p:cNvSpPr>
          <p:nvPr/>
        </p:nvSpPr>
        <p:spPr>
          <a:xfrm>
            <a:off x="609600" y="2038350"/>
            <a:ext cx="9906000" cy="1638300"/>
          </a:xfrm>
          <a:prstGeom prst="rect">
            <a:avLst/>
          </a:prstGeom>
          <a:noFill/>
          <a:ln w="0">
            <a:noFill/>
            <a:prstDash val="solid"/>
          </a:ln>
        </p:spPr>
        <p:txBody>
          <a:bodyPr wrap="square" lIns="0" tIns="0" rIns="0" bIns="0" anchor="t">
            <a:normAutofit/>
          </a:bodyPr>
          <a:lstStyle/>
          <a:p>
            <a:pPr algn="l">
              <a:defRPr sz="3900" b="1" i="0">
                <a:solidFill>
                  <a:srgbClr val="FFFFFF"/>
                </a:solidFill>
              </a:defRPr>
            </a:pPr>
            <a:r>
              <a:rPr sz="3900" b="1" i="0">
                <a:solidFill>
                  <a:srgbClr val="FFFFFF"/>
                </a:solidFill>
              </a:rPr>
              <a:t>Wir bauen den sicheren Weg,</a:t>
            </a:r>
          </a:p>
          <a:p>
            <a:pPr algn="l">
              <a:defRPr sz="3900" b="1" i="0">
                <a:solidFill>
                  <a:srgbClr val="FFFFFF"/>
                </a:solidFill>
              </a:defRPr>
            </a:pPr>
            <a:r>
              <a:rPr sz="3900" b="1" i="0">
                <a:solidFill>
                  <a:srgbClr val="FFFFFF"/>
                </a:solidFill>
              </a:rPr>
              <a:t>wie KI Teil unseres Dev-Teams wird.</a:t>
            </a:r>
          </a:p>
        </p:txBody>
      </p:sp>
      <p:sp>
        <p:nvSpPr>
          <p:cNvPr id="4" name="Rechteck 3">
            <a:extLst>
              <a:ext uri="{FF2B5EF4-FFF2-40B4-BE49-F238E27FC236}">
                <a16:creationId xmlns:a16="http://schemas.microsoft.com/office/drawing/2014/main" id="{F62800F8-F78C-4B06-BAA3-EFE2C0579C37}"/>
              </a:ext>
            </a:extLst>
          </p:cNvPr>
          <p:cNvSpPr>
            <a:spLocks noGrp="1"/>
          </p:cNvSpPr>
          <p:nvPr/>
        </p:nvSpPr>
        <p:spPr>
          <a:xfrm>
            <a:off x="609600" y="4114800"/>
            <a:ext cx="9048750" cy="876300"/>
          </a:xfrm>
          <a:prstGeom prst="rect">
            <a:avLst/>
          </a:prstGeom>
          <a:noFill/>
          <a:ln w="0">
            <a:noFill/>
            <a:prstDash val="solid"/>
          </a:ln>
        </p:spPr>
        <p:txBody>
          <a:bodyPr wrap="square" lIns="0" tIns="0" rIns="0" bIns="0" anchor="t">
            <a:normAutofit/>
          </a:bodyPr>
          <a:lstStyle/>
          <a:p>
            <a:pPr algn="l">
              <a:defRPr sz="1875" b="0" i="0">
                <a:solidFill>
                  <a:srgbClr val="D4D9D8"/>
                </a:solidFill>
              </a:defRPr>
            </a:pPr>
            <a:r>
              <a:rPr sz="1875" b="0" i="0">
                <a:solidFill>
                  <a:srgbClr val="D4D9D8"/>
                </a:solidFill>
              </a:rPr>
              <a:t>Nicht als Demo. Nicht als Blackbox. Sondern als kontrollierbare, wiederverwendbare Fähigkeit für destination.one.</a:t>
            </a:r>
          </a:p>
        </p:txBody>
      </p:sp>
      <p:sp>
        <p:nvSpPr>
          <p:cNvPr id="5" name="Rechteck: abgerundete Ecken 4">
            <a:extLst>
              <a:ext uri="{FF2B5EF4-FFF2-40B4-BE49-F238E27FC236}">
                <a16:creationId xmlns:a16="http://schemas.microsoft.com/office/drawing/2014/main" id="{1C0D1ECA-D7A1-4EC3-93C1-C535070DBC04}"/>
              </a:ext>
            </a:extLst>
          </p:cNvPr>
          <p:cNvSpPr>
            <a:spLocks noGrp="1"/>
          </p:cNvSpPr>
          <p:nvPr/>
        </p:nvSpPr>
        <p:spPr>
          <a:xfrm>
            <a:off x="609600" y="5391150"/>
            <a:ext cx="7239000" cy="647700"/>
          </a:xfrm>
          <a:prstGeom prst="roundRect">
            <a:avLst>
              <a:gd name="adj" fmla="val 17647"/>
            </a:avLst>
          </a:prstGeom>
          <a:solidFill>
            <a:srgbClr val="93C01C"/>
          </a:solidFill>
          <a:ln w="0">
            <a:noFill/>
            <a:prstDash val="solid"/>
          </a:ln>
        </p:spPr>
      </p:sp>
      <p:sp>
        <p:nvSpPr>
          <p:cNvPr id="6" name="Rechteck 5">
            <a:extLst>
              <a:ext uri="{FF2B5EF4-FFF2-40B4-BE49-F238E27FC236}">
                <a16:creationId xmlns:a16="http://schemas.microsoft.com/office/drawing/2014/main" id="{F9024415-E3B1-4E37-9FC4-B2F3D31C8F2F}"/>
              </a:ext>
            </a:extLst>
          </p:cNvPr>
          <p:cNvSpPr>
            <a:spLocks noGrp="1"/>
          </p:cNvSpPr>
          <p:nvPr/>
        </p:nvSpPr>
        <p:spPr>
          <a:xfrm>
            <a:off x="838200" y="5572125"/>
            <a:ext cx="6781800" cy="323850"/>
          </a:xfrm>
          <a:prstGeom prst="rect">
            <a:avLst/>
          </a:prstGeom>
          <a:noFill/>
          <a:ln w="0">
            <a:noFill/>
            <a:prstDash val="solid"/>
          </a:ln>
        </p:spPr>
        <p:txBody>
          <a:bodyPr wrap="square" lIns="0" tIns="0" rIns="0" bIns="0" anchor="t">
            <a:normAutofit/>
          </a:bodyPr>
          <a:lstStyle/>
          <a:p>
            <a:pPr algn="ctr">
              <a:defRPr sz="1950" b="1" i="0">
                <a:solidFill>
                  <a:srgbClr val="000020"/>
                </a:solidFill>
              </a:defRPr>
            </a:pPr>
            <a:r>
              <a:rPr sz="1950" b="1" i="0">
                <a:solidFill>
                  <a:srgbClr val="000020"/>
                </a:solidFill>
              </a:rPr>
              <a:t>Read-only Pilot: Code &amp; Wissensvault.</a:t>
            </a:r>
          </a:p>
        </p:txBody>
      </p:sp>
      <p:sp>
        <p:nvSpPr>
          <p:cNvPr id="7" name="Rechteck 6">
            <a:extLst>
              <a:ext uri="{FF2B5EF4-FFF2-40B4-BE49-F238E27FC236}">
                <a16:creationId xmlns:a16="http://schemas.microsoft.com/office/drawing/2014/main" id="{1A2CF8F0-EA8E-4B22-B264-B01A825ED489}"/>
              </a:ext>
            </a:extLst>
          </p:cNvPr>
          <p:cNvSpPr>
            <a:spLocks noGrp="1"/>
          </p:cNvSpPr>
          <p:nvPr/>
        </p:nvSpPr>
        <p:spPr>
          <a:xfrm>
            <a:off x="609600" y="6438900"/>
            <a:ext cx="3048000" cy="190500"/>
          </a:xfrm>
          <a:prstGeom prst="rect">
            <a:avLst/>
          </a:prstGeom>
          <a:noFill/>
          <a:ln w="0">
            <a:noFill/>
            <a:prstDash val="solid"/>
          </a:ln>
        </p:spPr>
        <p:txBody>
          <a:bodyPr wrap="square" lIns="0" tIns="0" rIns="0" bIns="0" anchor="b">
            <a:normAutofit/>
          </a:bodyPr>
          <a:lstStyle/>
          <a:p>
            <a:pPr algn="l">
              <a:defRPr sz="975" b="0" i="0">
                <a:solidFill>
                  <a:srgbClr val="D4D9D8"/>
                </a:solidFill>
              </a:defRPr>
            </a:pPr>
            <a:r>
              <a:rPr sz="975" b="0" i="0">
                <a:solidFill>
                  <a:srgbClr val="D4D9D8"/>
                </a:solidFill>
              </a:rPr>
              <a:t>destination.one · one.award</a:t>
            </a:r>
          </a:p>
        </p:txBody>
      </p:sp>
      <p:sp>
        <p:nvSpPr>
          <p:cNvPr id="8" name="Rechteck 7">
            <a:extLst>
              <a:ext uri="{FF2B5EF4-FFF2-40B4-BE49-F238E27FC236}">
                <a16:creationId xmlns:a16="http://schemas.microsoft.com/office/drawing/2014/main" id="{F7B77D35-702A-473D-A58D-A97AAC1099AA}"/>
              </a:ext>
            </a:extLst>
          </p:cNvPr>
          <p:cNvSpPr>
            <a:spLocks noGrp="1"/>
          </p:cNvSpPr>
          <p:nvPr/>
        </p:nvSpPr>
        <p:spPr>
          <a:xfrm>
            <a:off x="11049000" y="6438900"/>
            <a:ext cx="533400" cy="190500"/>
          </a:xfrm>
          <a:prstGeom prst="rect">
            <a:avLst/>
          </a:prstGeom>
          <a:noFill/>
          <a:ln w="0">
            <a:noFill/>
            <a:prstDash val="solid"/>
          </a:ln>
        </p:spPr>
        <p:txBody>
          <a:bodyPr wrap="square" lIns="0" tIns="0" rIns="0" bIns="0" anchor="b">
            <a:normAutofit/>
          </a:bodyPr>
          <a:lstStyle/>
          <a:p>
            <a:pPr algn="r">
              <a:defRPr sz="975" b="0" i="0">
                <a:solidFill>
                  <a:srgbClr val="D4D9D8"/>
                </a:solidFill>
              </a:defRPr>
            </a:pPr>
            <a:r>
              <a:rPr sz="975" b="0" i="0">
                <a:solidFill>
                  <a:srgbClr val="D4D9D8"/>
                </a:solidFill>
              </a:rPr>
              <a:t>11</a:t>
            </a:r>
          </a:p>
        </p:txBody>
      </p:sp>
    </p:spTree>
    <p:extLst>
      <p:ext uri="{BB962C8B-B14F-4D97-AF65-F5344CB8AC3E}">
        <p14:creationId xmlns:p14="http://schemas.microsoft.com/office/powerpoint/2010/main" val="585280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1757</Words>
  <Application>Microsoft Office PowerPoint</Application>
  <DocSecurity>0</DocSecurity>
  <PresentationFormat>Breitbild</PresentationFormat>
  <Paragraphs>260</Paragraphs>
  <Slides>11</Slides>
  <Notes>11</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11</vt:i4>
      </vt:variant>
    </vt:vector>
  </HeadingPairs>
  <TitlesOfParts>
    <vt:vector size="13" baseType="lpstr">
      <vt:lpstr>Calibri</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 Schamberger</cp:lastModifiedBy>
  <cp:revision>1</cp:revision>
  <dcterms:created xsi:type="dcterms:W3CDTF">2026-08-20T17:56:58Z</dcterms:created>
  <dcterms:modified xsi:type="dcterms:W3CDTF">2026-08-20T17:58:01Z</dcterms:modified>
</cp:coreProperties>
</file>